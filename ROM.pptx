
<file path=[Content_Types].xml><?xml version="1.0" encoding="utf-8"?>
<Types xmlns="http://schemas.openxmlformats.org/package/2006/content-types">
  <Default Extension="xlsx" ContentType="application/vnd.openxmlformats-officedocument.spreadsheetml.sheet"/>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19.xml" ContentType="application/vnd.openxmlformats-officedocument.presentationml.slide+xml"/>
  <Override PartName="/ppt/notesSlides/notesSlide3.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7.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4.xml" ContentType="application/vnd.openxmlformats-officedocument.presentationml.notesSlide+xml"/>
  <Override PartName="/ppt/slideLayouts/slideLayout8.xml" ContentType="application/vnd.openxmlformats-officedocument.presentationml.slideLayout+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s/slide5.xml" ContentType="application/vnd.openxmlformats-officedocument.presentationml.slide+xml"/>
  <Override PartName="/ppt/notesSlides/notesSlide20.xml" ContentType="application/vnd.openxmlformats-officedocument.presentationml.notesSlide+xml"/>
  <Override PartName="/ppt/slides/slide15.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notesSlides/notesSlide17.xml" ContentType="application/vnd.openxmlformats-officedocument.presentationml.notesSlid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14.xml" ContentType="application/vnd.openxmlformats-officedocument.presentationml.slide+xml"/>
  <Override PartName="/ppt/slideMasters/slideMaster1.xml" ContentType="application/vnd.openxmlformats-officedocument.presentationml.slideMaster+xml"/>
  <Override PartName="/ppt/charts/colors1.xml" ContentType="application/vnd.ms-office.chartcolorstyle+xml"/>
  <Override PartName="/ppt/theme/theme2.xml" ContentType="application/vnd.openxmlformats-officedocument.theme+xml"/>
  <Override PartName="/ppt/presProps.xml" ContentType="application/vnd.openxmlformats-officedocument.presentationml.presProps+xml"/>
  <Override PartName="/ppt/slideLayouts/slideLayout6.xml" ContentType="application/vnd.openxmlformats-officedocument.presentationml.slideLayout+xml"/>
  <Override PartName="/ppt/charts/style1.xml" ContentType="application/vnd.ms-office.chartstyle+xml"/>
  <Override PartName="/ppt/slides/slide7.xml" ContentType="application/vnd.openxmlformats-officedocument.presentationml.slide+xml"/>
  <Override PartName="/ppt/charts/chart1.xml" ContentType="application/vnd.openxmlformats-officedocument.drawingml.char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2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microsoft.com/office/2011/relationships/chartStyle" Target="style1.xml" /><Relationship Id="rId2" Type="http://schemas.microsoft.com/office/2011/relationships/chartColorStyle" Target="colors1.xml" /><Relationship Id="rId3"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title>
      <c:tx>
        <c:rich>
          <a:bodyPr/>
          <a:p>
            <a:pPr>
              <a:defRPr/>
            </a:pPr>
            <a:endParaRPr/>
          </a:p>
        </c:rich>
      </c:tx>
      <c:layout>
        <c:manualLayout>
          <c:x val="-0.030600"/>
          <c:y val="0.008950"/>
        </c:manualLayout>
      </c:layout>
      <c:overlay val="0"/>
      <c:spPr bwMode="auto">
        <a:prstGeom prst="rect">
          <a:avLst/>
        </a:prstGeom>
        <a:noFill/>
        <a:ln>
          <a:noFill/>
        </a:ln>
      </c:spPr>
      <c:txPr>
        <a:bodyPr/>
        <a:p>
          <a:pPr>
            <a:defRPr sz="1400" b="0" spc="0">
              <a:solidFill>
                <a:schemeClr val="tx1">
                  <a:lumMod val="65000"/>
                  <a:lumOff val="35000"/>
                </a:schemeClr>
              </a:solidFill>
              <a:latin typeface="+mn-lt"/>
              <a:ea typeface="+mn-ea"/>
              <a:cs typeface="+mn-cs"/>
            </a:defRPr>
          </a:pPr>
          <a:endParaRPr/>
        </a:p>
      </c:txPr>
    </c:title>
    <c:autoTitleDeleted val="0"/>
    <c:view3D>
      <c:rotX val="15"/>
      <c:rotY val="20"/>
      <c:rAngAx val="1"/>
    </c:view3D>
    <c:floor>
      <c:thickness val="0"/>
      <c:spPr bwMode="auto">
        <a:prstGeom prst="rect">
          <a:avLst/>
        </a:prstGeom>
        <a:noFill/>
        <a:ln>
          <a:noFill/>
        </a:ln>
      </c:spPr>
    </c:floor>
    <c:sideWall>
      <c:thickness val="0"/>
      <c:spPr bwMode="auto">
        <a:prstGeom prst="rect">
          <a:avLst/>
        </a:prstGeom>
        <a:noFill/>
        <a:ln>
          <a:noFill/>
        </a:ln>
      </c:spPr>
    </c:sideWall>
    <c:backWall>
      <c:thickness val="0"/>
      <c:spPr bwMode="auto">
        <a:prstGeom prst="rect">
          <a:avLst/>
        </a:prstGeom>
        <a:noFill/>
        <a:ln>
          <a:noFill/>
        </a:ln>
      </c:spPr>
    </c:backWall>
    <c:plotArea>
      <c:layout>
        <c:manualLayout>
          <c:layoutTarget val="inner"/>
          <c:xMode val="edge"/>
          <c:yMode val="edge"/>
          <c:x val="0.006620"/>
          <c:y val="0.028510"/>
          <c:w val="0.967370"/>
          <c:h val="0.876050"/>
        </c:manualLayout>
      </c:layout>
      <c:bar3DChart>
        <c:barDir val="col"/>
        <c:grouping val="clustered"/>
        <c:varyColors val="0"/>
        <c:ser>
          <c:idx val="0"/>
          <c:order val="0"/>
          <c:tx>
            <c:strRef>
              <c:f>Sheet1!$B$1</c:f>
              <c:strCache>
                <c:ptCount val="1"/>
              </c:strCache>
            </c:strRef>
          </c:tx>
          <c:spPr bwMode="auto">
            <a:prstGeom prst="rect">
              <a:avLst/>
            </a:prstGeom>
            <a:solidFill>
              <a:schemeClr val="accent1"/>
            </a:solidFill>
            <a:ln>
              <a:noFill/>
            </a:ln>
          </c:spPr>
          <c:dLbls>
            <c:showBubbleSize val="0"/>
            <c:showCatName val="0"/>
            <c:showLeaderLines val="0"/>
            <c:showLegendKey val="0"/>
            <c:showPercent val="0"/>
            <c:showSerName val="0"/>
            <c:showVal val="0"/>
            <c:spPr bwMode="auto">
              <a:prstGeom prst="rect">
                <a:avLst/>
              </a:prstGeom>
              <a:noFill/>
              <a:ln>
                <a:noFill/>
              </a:ln>
            </c:spPr>
            <c:txPr>
              <a:bodyPr/>
              <a:p>
                <a:pPr>
                  <a:defRPr sz="900">
                    <a:solidFill>
                      <a:schemeClr val="tx1">
                        <a:lumMod val="75000"/>
                        <a:lumOff val="25000"/>
                      </a:schemeClr>
                    </a:solidFill>
                    <a:latin typeface="+mn-lt"/>
                    <a:ea typeface="+mn-ea"/>
                    <a:cs typeface="+mn-cs"/>
                  </a:defRPr>
                </a:pPr>
                <a:endParaRPr/>
              </a:p>
            </c:txPr>
          </c:dLbls>
          <c:cat>
            <c:strRef>
              <c:f>Sheet1!$A$2:$A$7</c:f>
              <c:strCache>
                <c:ptCount val="6"/>
                <c:pt idx="0">
                  <c:v>Random Collision Test</c:v>
                </c:pt>
                <c:pt idx="1">
                  <c:v>Small Permutation Randomness Test</c:v>
                </c:pt>
                <c:pt idx="2">
                  <c:v>Bitstream Entropy Test</c:v>
                </c:pt>
                <c:pt idx="3">
                  <c:v>Consecutive Value Pattern Test</c:v>
                </c:pt>
              </c:strCache>
            </c:strRef>
          </c:cat>
          <c:val>
            <c:numRef>
              <c:f>Sheet1!$B$2:$B$7</c:f>
              <c:numCache>
                <c:formatCode>General</c:formatCode>
                <c:ptCount val="6"/>
              </c:numCache>
            </c:numRef>
          </c:val>
        </c:ser>
        <c:ser>
          <c:idx val="1"/>
          <c:order val="1"/>
          <c:tx>
            <c:strRef>
              <c:f>Sheet1!$C$1</c:f>
              <c:strCache>
                <c:ptCount val="1"/>
              </c:strCache>
            </c:strRef>
          </c:tx>
          <c:spPr bwMode="auto">
            <a:prstGeom prst="rect">
              <a:avLst/>
            </a:prstGeom>
            <a:solidFill>
              <a:schemeClr val="accent2"/>
            </a:solidFill>
            <a:ln>
              <a:noFill/>
            </a:ln>
          </c:spPr>
          <c:dLbls>
            <c:showBubbleSize val="0"/>
            <c:showCatName val="0"/>
            <c:showLeaderLines val="0"/>
            <c:showLegendKey val="0"/>
            <c:showPercent val="0"/>
            <c:showSerName val="0"/>
            <c:showVal val="0"/>
            <c:spPr bwMode="auto">
              <a:prstGeom prst="rect">
                <a:avLst/>
              </a:prstGeom>
              <a:noFill/>
              <a:ln>
                <a:noFill/>
              </a:ln>
            </c:spPr>
            <c:txPr>
              <a:bodyPr/>
              <a:p>
                <a:pPr>
                  <a:defRPr sz="900">
                    <a:solidFill>
                      <a:schemeClr val="tx1">
                        <a:lumMod val="75000"/>
                        <a:lumOff val="25000"/>
                      </a:schemeClr>
                    </a:solidFill>
                    <a:latin typeface="+mn-lt"/>
                    <a:ea typeface="+mn-ea"/>
                    <a:cs typeface="+mn-cs"/>
                  </a:defRPr>
                </a:pPr>
                <a:endParaRPr/>
              </a:p>
            </c:txPr>
          </c:dLbls>
          <c:cat>
            <c:strRef>
              <c:f>Sheet1!$A$2:$A$7</c:f>
              <c:strCache>
                <c:ptCount val="6"/>
                <c:pt idx="0">
                  <c:v>Random Collision Test</c:v>
                </c:pt>
                <c:pt idx="1">
                  <c:v>Small Permutation Randomness Test</c:v>
                </c:pt>
                <c:pt idx="2">
                  <c:v>Bitstream Entropy Test</c:v>
                </c:pt>
                <c:pt idx="3">
                  <c:v>Consecutive Value Pattern Test</c:v>
                </c:pt>
              </c:strCache>
            </c:strRef>
          </c:cat>
          <c:val>
            <c:numRef>
              <c:f>Sheet1!$C$2:$C$7</c:f>
              <c:numCache>
                <c:formatCode>General</c:formatCode>
                <c:ptCount val="6"/>
              </c:numCache>
            </c:numRef>
          </c:val>
        </c:ser>
        <c:ser>
          <c:idx val="2"/>
          <c:order val="2"/>
          <c:tx>
            <c:strRef>
              <c:f>Sheet1!$D$1</c:f>
              <c:strCache>
                <c:ptCount val="1"/>
                <c:pt idx="0">
                  <c:v>p-Value</c:v>
                </c:pt>
              </c:strCache>
            </c:strRef>
          </c:tx>
          <c:spPr bwMode="auto">
            <a:prstGeom prst="rect">
              <a:avLst/>
            </a:prstGeom>
            <a:solidFill>
              <a:schemeClr val="accent3"/>
            </a:solidFill>
            <a:ln>
              <a:noFill/>
            </a:ln>
          </c:spPr>
          <c:dLbls>
            <c:showBubbleSize val="0"/>
            <c:showCatName val="0"/>
            <c:showLeaderLines val="0"/>
            <c:showLegendKey val="0"/>
            <c:showPercent val="0"/>
            <c:showSerName val="0"/>
            <c:showVal val="0"/>
            <c:spPr bwMode="auto">
              <a:prstGeom prst="rect">
                <a:avLst/>
              </a:prstGeom>
              <a:noFill/>
              <a:ln>
                <a:noFill/>
              </a:ln>
            </c:spPr>
            <c:txPr>
              <a:bodyPr/>
              <a:p>
                <a:pPr>
                  <a:defRPr sz="900">
                    <a:solidFill>
                      <a:schemeClr val="tx1">
                        <a:lumMod val="75000"/>
                        <a:lumOff val="25000"/>
                      </a:schemeClr>
                    </a:solidFill>
                    <a:latin typeface="+mn-lt"/>
                    <a:ea typeface="+mn-ea"/>
                    <a:cs typeface="+mn-cs"/>
                  </a:defRPr>
                </a:pPr>
                <a:endParaRPr/>
              </a:p>
            </c:txPr>
          </c:dLbls>
          <c:cat>
            <c:strRef>
              <c:f>Sheet1!$A$2:$A$7</c:f>
              <c:strCache>
                <c:ptCount val="6"/>
                <c:pt idx="0">
                  <c:v>Random Collision Test</c:v>
                </c:pt>
                <c:pt idx="1">
                  <c:v>Small Permutation Randomness Test</c:v>
                </c:pt>
                <c:pt idx="2">
                  <c:v>Bitstream Entropy Test</c:v>
                </c:pt>
                <c:pt idx="3">
                  <c:v>Consecutive Value Pattern Test</c:v>
                </c:pt>
              </c:strCache>
            </c:strRef>
          </c:cat>
          <c:val>
            <c:numRef>
              <c:f>Sheet1!$D$2:$D$7</c:f>
              <c:numCache>
                <c:formatCode>General</c:formatCode>
                <c:ptCount val="6"/>
                <c:pt idx="0">
                  <c:v>0.94255763</c:v>
                </c:pt>
                <c:pt idx="1">
                  <c:v>0.89901513</c:v>
                </c:pt>
                <c:pt idx="2">
                  <c:v>0.03296137</c:v>
                </c:pt>
                <c:pt idx="3">
                  <c:v>0.01021506</c:v>
                </c:pt>
              </c:numCache>
            </c:numRef>
          </c:val>
        </c:ser>
        <c:dLbls>
          <c:showBubbleSize val="0"/>
          <c:showCatName val="0"/>
          <c:showLeaderLines val="0"/>
          <c:showLegendKey val="0"/>
          <c:showPercent val="0"/>
          <c:showSerName val="0"/>
          <c:showVal val="0"/>
          <c:spPr bwMode="auto">
            <a:prstGeom prst="rect">
              <a:avLst/>
            </a:prstGeom>
            <a:noFill/>
            <a:ln>
              <a:noFill/>
            </a:ln>
          </c:spPr>
          <c:txPr>
            <a:bodyPr/>
            <a:p>
              <a:pPr>
                <a:defRPr sz="900">
                  <a:solidFill>
                    <a:schemeClr val="tx1">
                      <a:lumMod val="75000"/>
                      <a:lumOff val="25000"/>
                    </a:schemeClr>
                  </a:solidFill>
                  <a:latin typeface="+mn-lt"/>
                  <a:ea typeface="+mn-ea"/>
                  <a:cs typeface="+mn-cs"/>
                </a:defRPr>
              </a:pPr>
              <a:endParaRPr/>
            </a:p>
          </c:txPr>
        </c:dLbls>
        <c:gapWidth val="150"/>
        <c:axId val="1998337669"/>
        <c:axId val="1998337670"/>
      </c:bar3DChart>
      <c:catAx>
        <c:axId val="1998337669"/>
        <c:scaling>
          <c:orientation val="minMax"/>
        </c:scaling>
        <c:delete val="0"/>
        <c:axPos val="b"/>
        <c:majorTickMark val="out"/>
        <c:minorTickMark val="none"/>
        <c:tickLblPos val="nextTo"/>
        <c:spPr bwMode="auto">
          <a:prstGeom prst="rect">
            <a:avLst/>
          </a:prstGeom>
          <a:noFill/>
          <a:ln w="9525" cap="flat" cmpd="sng" algn="ctr">
            <a:solidFill>
              <a:schemeClr val="tx1">
                <a:lumMod val="15000"/>
                <a:lumOff val="85000"/>
              </a:schemeClr>
            </a:solidFill>
            <a:round/>
          </a:ln>
        </c:spPr>
        <c:txPr>
          <a:bodyPr/>
          <a:p>
            <a:pPr>
              <a:defRPr sz="900">
                <a:solidFill>
                  <a:schemeClr val="tx1">
                    <a:lumMod val="65000"/>
                    <a:lumOff val="35000"/>
                  </a:schemeClr>
                </a:solidFill>
                <a:latin typeface="Calibri"/>
                <a:ea typeface="Arial"/>
                <a:cs typeface="Arial"/>
              </a:defRPr>
            </a:pPr>
            <a:endParaRPr/>
          </a:p>
        </c:txPr>
        <c:crossAx val="1998337670"/>
        <c:crosses val="autoZero"/>
        <c:auto val="1"/>
        <c:lblAlgn val="ctr"/>
        <c:lblOffset val="100"/>
        <c:noMultiLvlLbl val="0"/>
      </c:catAx>
      <c:valAx>
        <c:axId val="1998337670"/>
        <c:scaling>
          <c:orientation val="minMax"/>
        </c:scaling>
        <c:delete val="0"/>
        <c:axPos val="l"/>
        <c:majorGridlines>
          <c:spPr bwMode="auto">
            <a:prstGeom prst="rect">
              <a:avLst/>
            </a:prstGeom>
            <a:noFill/>
            <a:ln w="9525" cap="flat" cmpd="sng" algn="ctr">
              <a:solidFill>
                <a:schemeClr val="tx1">
                  <a:lumMod val="15000"/>
                  <a:lumOff val="85000"/>
                </a:schemeClr>
              </a:solidFill>
              <a:round/>
            </a:ln>
          </c:spPr>
        </c:majorGridlines>
        <c:numFmt formatCode="General" sourceLinked="1"/>
        <c:majorTickMark val="out"/>
        <c:minorTickMark val="none"/>
        <c:tickLblPos val="nextTo"/>
        <c:spPr bwMode="auto">
          <a:prstGeom prst="rect">
            <a:avLst/>
          </a:prstGeom>
          <a:noFill/>
          <a:ln>
            <a:noFill/>
          </a:ln>
        </c:spPr>
        <c:txPr>
          <a:bodyPr/>
          <a:p>
            <a:pPr>
              <a:defRPr sz="900">
                <a:solidFill>
                  <a:schemeClr val="tx1">
                    <a:lumMod val="65000"/>
                    <a:lumOff val="35000"/>
                  </a:schemeClr>
                </a:solidFill>
                <a:latin typeface="Calibri"/>
                <a:ea typeface="Arial"/>
                <a:cs typeface="Arial"/>
              </a:defRPr>
            </a:pPr>
            <a:endParaRPr/>
          </a:p>
        </c:txPr>
        <c:crossAx val="1998337669"/>
        <c:crosses val="autoZero"/>
        <c:crossBetween val="between"/>
      </c:valAx>
      <c:spPr bwMode="auto">
        <a:prstGeom prst="rect">
          <a:avLst/>
        </a:prstGeom>
        <a:noFill/>
        <a:ln>
          <a:noFill/>
        </a:ln>
      </c:spPr>
    </c:plotArea>
    <c:legend>
      <c:legendPos val="b"/>
      <c:layout/>
      <c:overlay val="0"/>
      <c:spPr bwMode="auto">
        <a:prstGeom prst="rect">
          <a:avLst/>
        </a:prstGeom>
        <a:noFill/>
        <a:ln>
          <a:noFill/>
        </a:ln>
        <a:effectLst/>
      </c:spPr>
      <c:txPr>
        <a:bodyPr rot="0" spcFirstLastPara="1" vertOverflow="ellipsis" vert="horz" wrap="square" anchor="ctr" anchorCtr="1"/>
        <a:lstStyle/>
        <a:p>
          <a:pPr>
            <a:defRPr sz="900">
              <a:solidFill>
                <a:schemeClr val="tx1">
                  <a:lumMod val="65000"/>
                  <a:lumOff val="35000"/>
                </a:schemeClr>
              </a:solidFill>
              <a:latin typeface="+mn-lt"/>
              <a:ea typeface="+mn-ea"/>
              <a:cs typeface="+mn-cs"/>
            </a:defRPr>
          </a:pPr>
          <a:endParaRPr lang="en-US"/>
        </a:p>
      </c:txPr>
    </c:legend>
    <c:plotVisOnly val="1"/>
    <c:dispBlanksAs val="gap"/>
    <c:showDLblsOverMax val="0"/>
  </c:chart>
  <c:spPr bwMode="auto">
    <a:xfrm>
      <a:off x="9810810" y="3143495"/>
      <a:ext cx="7722972" cy="5300288"/>
    </a:xfrm>
    <a:prstGeom prst="rect">
      <a:avLst/>
    </a:prstGeom>
    <a:solidFill>
      <a:schemeClr val="bg1"/>
    </a:solidFill>
    <a:ln w="28575" cap="flat" cmpd="sng" algn="ctr">
      <a:solidFill>
        <a:schemeClr val="tx1">
          <a:lumMod val="15000"/>
          <a:lumOff val="85000"/>
        </a:schemeClr>
      </a:solidFill>
      <a:prstDash val="solid"/>
      <a:round/>
    </a:ln>
  </c:spPr>
  <c:txPr>
    <a:bodyPr/>
    <a:p>
      <a:pPr>
        <a:defRPr sz="1000">
          <a:solidFill>
            <a:schemeClr val="tx1"/>
          </a:solidFill>
          <a:latin typeface="+mn-lt"/>
          <a:ea typeface="+mn-ea"/>
          <a:cs typeface="+mn-cs"/>
        </a:defRPr>
      </a:pPr>
      <a:endParaRPr/>
    </a:p>
  </c:txPr>
  <c:externalData r:id="rId3">
    <c:autoUpdate val="0"/>
  </c:externalData>
  <c:printSettings>
    <c:headerFooter/>
    <c:pageMargins l="0.69999999999999996" r="0.69999999999999996" t="0.75" b="0.75" header="0.29999999999999999" footer="0.29999999999999999"/>
    <c:pageSetup/>
  </c:printSettings>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9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75000"/>
        <a:lumOff val="25000"/>
      </a:schemeClr>
    </cs:fontRef>
    <cs:defRPr sz="900"/>
  </cs:dataLabel>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9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9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spPr bwMode="auto">
      <a:prstGeom prst="rect">
        <a:avLst/>
      </a:prstGeom>
      <a:noFill/>
      <a:ln>
        <a:noFill/>
      </a:ln>
    </cs:spPr>
  </cs:wall>
  <cs:dataPointMarkerLayout symbol="circle" size="5"/>
</cs:chartStyle>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5CE6CA-294D-E051-D0D9-AA8806C0E1F0}"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915DAEA-85AB-FFAC-4983-F1885B21845C}"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EB179D9-D36C-5676-6B45-454FC6297CCA}"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5566161" name="Slide Image Placeholder 1"/>
          <p:cNvSpPr>
            <a:spLocks noChangeAspect="1" noGrp="1" noRot="1"/>
          </p:cNvSpPr>
          <p:nvPr>
            <p:ph type="sldImg"/>
          </p:nvPr>
        </p:nvSpPr>
        <p:spPr bwMode="auto"/>
      </p:sp>
      <p:sp>
        <p:nvSpPr>
          <p:cNvPr id="1386963852" name="Notes Placeholder 2"/>
          <p:cNvSpPr>
            <a:spLocks noGrp="1"/>
          </p:cNvSpPr>
          <p:nvPr>
            <p:ph type="body" idx="1"/>
          </p:nvPr>
        </p:nvSpPr>
        <p:spPr bwMode="auto"/>
        <p:txBody>
          <a:bodyPr/>
          <a:lstStyle/>
          <a:p>
            <a:pPr>
              <a:defRPr/>
            </a:pPr>
            <a:endParaRPr/>
          </a:p>
        </p:txBody>
      </p:sp>
      <p:sp>
        <p:nvSpPr>
          <p:cNvPr id="1544041412" name="Slide Number Placeholder 3"/>
          <p:cNvSpPr>
            <a:spLocks noGrp="1"/>
          </p:cNvSpPr>
          <p:nvPr>
            <p:ph type="sldNum" sz="quarter" idx="10"/>
          </p:nvPr>
        </p:nvSpPr>
        <p:spPr bwMode="auto"/>
        <p:txBody>
          <a:bodyPr/>
          <a:lstStyle/>
          <a:p>
            <a:pPr>
              <a:defRPr/>
            </a:pPr>
            <a:fld id="{7EC9CAE9-891F-890F-BE6D-250DF8B6D305}"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AFEBF21-E2E4-19D9-0A81-718912E19E7E}"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89BBAF-2529-ABD7-EFB1-8BFC2C5746E4}"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28B2AE-9E1E-EFCB-2E6B-9C2AD6D621C0}"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323262" name="Slide Image Placeholder 1"/>
          <p:cNvSpPr>
            <a:spLocks noChangeAspect="1" noGrp="1" noRot="1"/>
          </p:cNvSpPr>
          <p:nvPr>
            <p:ph type="sldImg"/>
          </p:nvPr>
        </p:nvSpPr>
        <p:spPr bwMode="auto"/>
      </p:sp>
      <p:sp>
        <p:nvSpPr>
          <p:cNvPr id="1982311976" name="Notes Placeholder 2"/>
          <p:cNvSpPr>
            <a:spLocks noGrp="1"/>
          </p:cNvSpPr>
          <p:nvPr>
            <p:ph type="body" idx="1"/>
          </p:nvPr>
        </p:nvSpPr>
        <p:spPr bwMode="auto"/>
        <p:txBody>
          <a:bodyPr/>
          <a:lstStyle/>
          <a:p>
            <a:pPr>
              <a:defRPr/>
            </a:pPr>
            <a:endParaRPr/>
          </a:p>
        </p:txBody>
      </p:sp>
      <p:sp>
        <p:nvSpPr>
          <p:cNvPr id="1129814129" name="Slide Number Placeholder 3"/>
          <p:cNvSpPr>
            <a:spLocks noGrp="1"/>
          </p:cNvSpPr>
          <p:nvPr>
            <p:ph type="sldNum" sz="quarter" idx="10"/>
          </p:nvPr>
        </p:nvSpPr>
        <p:spPr bwMode="auto"/>
        <p:txBody>
          <a:bodyPr/>
          <a:lstStyle/>
          <a:p>
            <a:pPr>
              <a:defRPr/>
            </a:pPr>
            <a:fld id="{B350195C-A707-4D13-DC77-6EEE8EBA3A41}"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3C0A2C-D6CA-1AC8-8D51-38DD76CE4218}"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2F787D-DB54-8A7D-0E72-161533AB67D4}"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9786796" name="Slide Image Placeholder 1"/>
          <p:cNvSpPr>
            <a:spLocks noChangeAspect="1" noGrp="1" noRot="1"/>
          </p:cNvSpPr>
          <p:nvPr>
            <p:ph type="sldImg"/>
          </p:nvPr>
        </p:nvSpPr>
        <p:spPr bwMode="auto"/>
      </p:sp>
      <p:sp>
        <p:nvSpPr>
          <p:cNvPr id="1543717245" name="Notes Placeholder 2"/>
          <p:cNvSpPr>
            <a:spLocks noGrp="1"/>
          </p:cNvSpPr>
          <p:nvPr>
            <p:ph type="body" idx="1"/>
          </p:nvPr>
        </p:nvSpPr>
        <p:spPr bwMode="auto"/>
        <p:txBody>
          <a:bodyPr/>
          <a:lstStyle/>
          <a:p>
            <a:pPr>
              <a:defRPr/>
            </a:pPr>
            <a:endParaRPr/>
          </a:p>
        </p:txBody>
      </p:sp>
      <p:sp>
        <p:nvSpPr>
          <p:cNvPr id="171018855" name="Slide Number Placeholder 3"/>
          <p:cNvSpPr>
            <a:spLocks noGrp="1"/>
          </p:cNvSpPr>
          <p:nvPr>
            <p:ph type="sldNum" sz="quarter" idx="10"/>
          </p:nvPr>
        </p:nvSpPr>
        <p:spPr bwMode="auto"/>
        <p:txBody>
          <a:bodyPr/>
          <a:lstStyle/>
          <a:p>
            <a:pPr>
              <a:defRPr/>
            </a:pPr>
            <a:fld id="{2600412C-DCFC-8C1F-5E63-5FDC9DF1A223}"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EF21AC-B526-6C32-CD62-EDE10176C75D}"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0854127" name="Slide Image Placeholder 1"/>
          <p:cNvSpPr>
            <a:spLocks noChangeAspect="1" noGrp="1" noRot="1"/>
          </p:cNvSpPr>
          <p:nvPr>
            <p:ph type="sldImg"/>
          </p:nvPr>
        </p:nvSpPr>
        <p:spPr bwMode="auto"/>
      </p:sp>
      <p:sp>
        <p:nvSpPr>
          <p:cNvPr id="863375738" name="Notes Placeholder 2"/>
          <p:cNvSpPr>
            <a:spLocks noGrp="1"/>
          </p:cNvSpPr>
          <p:nvPr>
            <p:ph type="body" idx="1"/>
          </p:nvPr>
        </p:nvSpPr>
        <p:spPr bwMode="auto"/>
        <p:txBody>
          <a:bodyPr/>
          <a:lstStyle/>
          <a:p>
            <a:pPr>
              <a:defRPr/>
            </a:pPr>
            <a:endParaRPr/>
          </a:p>
        </p:txBody>
      </p:sp>
      <p:sp>
        <p:nvSpPr>
          <p:cNvPr id="767148421" name="Slide Number Placeholder 3"/>
          <p:cNvSpPr>
            <a:spLocks noGrp="1"/>
          </p:cNvSpPr>
          <p:nvPr>
            <p:ph type="sldNum" sz="quarter" idx="10"/>
          </p:nvPr>
        </p:nvSpPr>
        <p:spPr bwMode="auto"/>
        <p:txBody>
          <a:bodyPr/>
          <a:lstStyle/>
          <a:p>
            <a:pPr>
              <a:defRPr/>
            </a:pPr>
            <a:fld id="{E8C409EB-FF1C-5243-CCBD-D8E9062D4508}"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4534086" name="Slide Image Placeholder 1"/>
          <p:cNvSpPr>
            <a:spLocks noChangeAspect="1" noGrp="1" noRot="1"/>
          </p:cNvSpPr>
          <p:nvPr>
            <p:ph type="sldImg"/>
          </p:nvPr>
        </p:nvSpPr>
        <p:spPr bwMode="auto"/>
      </p:sp>
      <p:sp>
        <p:nvSpPr>
          <p:cNvPr id="810037323" name="Notes Placeholder 2"/>
          <p:cNvSpPr>
            <a:spLocks noGrp="1"/>
          </p:cNvSpPr>
          <p:nvPr>
            <p:ph type="body" idx="1"/>
          </p:nvPr>
        </p:nvSpPr>
        <p:spPr bwMode="auto"/>
        <p:txBody>
          <a:bodyPr/>
          <a:lstStyle/>
          <a:p>
            <a:pPr>
              <a:defRPr/>
            </a:pPr>
            <a:endParaRPr/>
          </a:p>
        </p:txBody>
      </p:sp>
      <p:sp>
        <p:nvSpPr>
          <p:cNvPr id="1393726239" name="Slide Number Placeholder 3"/>
          <p:cNvSpPr>
            <a:spLocks noGrp="1"/>
          </p:cNvSpPr>
          <p:nvPr>
            <p:ph type="sldNum" sz="quarter" idx="10"/>
          </p:nvPr>
        </p:nvSpPr>
        <p:spPr bwMode="auto"/>
        <p:txBody>
          <a:bodyPr/>
          <a:lstStyle/>
          <a:p>
            <a:pPr>
              <a:defRPr/>
            </a:pPr>
            <a:fld id="{16D38A16-232B-649B-5FC8-16636684F87D}"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5809030" name="Slide Image Placeholder 1"/>
          <p:cNvSpPr>
            <a:spLocks noChangeAspect="1" noGrp="1" noRot="1"/>
          </p:cNvSpPr>
          <p:nvPr>
            <p:ph type="sldImg"/>
          </p:nvPr>
        </p:nvSpPr>
        <p:spPr bwMode="auto"/>
      </p:sp>
      <p:sp>
        <p:nvSpPr>
          <p:cNvPr id="914700762" name="Notes Placeholder 2"/>
          <p:cNvSpPr>
            <a:spLocks noGrp="1"/>
          </p:cNvSpPr>
          <p:nvPr>
            <p:ph type="body" idx="1"/>
          </p:nvPr>
        </p:nvSpPr>
        <p:spPr bwMode="auto"/>
        <p:txBody>
          <a:bodyPr/>
          <a:lstStyle/>
          <a:p>
            <a:pPr>
              <a:defRPr/>
            </a:pPr>
            <a:endParaRPr/>
          </a:p>
        </p:txBody>
      </p:sp>
      <p:sp>
        <p:nvSpPr>
          <p:cNvPr id="434363497" name="Slide Number Placeholder 3"/>
          <p:cNvSpPr>
            <a:spLocks noGrp="1"/>
          </p:cNvSpPr>
          <p:nvPr>
            <p:ph type="sldNum" sz="quarter" idx="10"/>
          </p:nvPr>
        </p:nvSpPr>
        <p:spPr bwMode="auto"/>
        <p:txBody>
          <a:bodyPr/>
          <a:lstStyle/>
          <a:p>
            <a:pPr>
              <a:defRPr/>
            </a:pPr>
            <a:fld id="{179D8CA5-45CE-A5D0-AE96-5F2D07BE0929}"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8D6CDB7-5198-4450-9102-A8C97E443343}"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68D598-B43C-B95F-54D0-D203087A0947}"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99449D-5AA4-3A41-FD51-0FDA84CC2019}"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AD2E7C-C5B6-7602-6CC1-70BB35079AF8}" type="slidenum">
              <a:rPr/>
              <a:t/>
            </a:fld>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B0B28F-C739-1944-6132-0290EE2203D4}"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1.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1.xml" /></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92716"/>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Freeform 9"/>
          <p:cNvSpPr/>
          <p:nvPr/>
        </p:nvSpPr>
        <p:spPr bwMode="auto">
          <a:xfrm rot="0" flipH="0" flipV="0">
            <a:off x="14122660" y="2918726"/>
            <a:ext cx="2738459" cy="3218346"/>
          </a:xfrm>
          <a:custGeom>
            <a:avLst/>
            <a:gdLst/>
            <a:ahLst/>
            <a:cxnLst/>
            <a:rect l="l" t="t" r="r" b="b"/>
            <a:pathLst>
              <a:path w="2738459" h="3218346" fill="norm" stroke="1" extrusionOk="0">
                <a:moveTo>
                  <a:pt x="0" y="0"/>
                </a:moveTo>
                <a:lnTo>
                  <a:pt x="2738459" y="0"/>
                </a:lnTo>
                <a:lnTo>
                  <a:pt x="2738459" y="3218346"/>
                </a:lnTo>
                <a:lnTo>
                  <a:pt x="0" y="3218346"/>
                </a:lnTo>
                <a:lnTo>
                  <a:pt x="0" y="0"/>
                </a:lnTo>
                <a:close/>
              </a:path>
            </a:pathLst>
          </a:custGeom>
          <a:blipFill>
            <a:blip r:embed="rId3"/>
            <a:srcRect l="10055" t="4018" r="12795" b="5316"/>
            <a:stretch/>
          </a:blipFill>
        </p:spPr>
      </p:sp>
      <p:sp>
        <p:nvSpPr>
          <p:cNvPr id="10" name="Freeform 10"/>
          <p:cNvSpPr/>
          <p:nvPr/>
        </p:nvSpPr>
        <p:spPr bwMode="auto">
          <a:xfrm rot="-3878627" flipH="0" flipV="0">
            <a:off x="3680702" y="1471233"/>
            <a:ext cx="2034540" cy="1667625"/>
          </a:xfrm>
          <a:custGeom>
            <a:avLst/>
            <a:gdLst/>
            <a:ahLst/>
            <a:cxnLst/>
            <a:rect l="l" t="t" r="r" b="b"/>
            <a:pathLst>
              <a:path w="2034541" h="1667625" fill="norm" stroke="1" extrusionOk="0">
                <a:moveTo>
                  <a:pt x="0" y="0"/>
                </a:moveTo>
                <a:lnTo>
                  <a:pt x="2034540" y="0"/>
                </a:lnTo>
                <a:lnTo>
                  <a:pt x="2034540" y="1667624"/>
                </a:lnTo>
                <a:lnTo>
                  <a:pt x="0" y="1667624"/>
                </a:lnTo>
                <a:lnTo>
                  <a:pt x="0" y="0"/>
                </a:lnTo>
                <a:close/>
              </a:path>
            </a:pathLst>
          </a:custGeom>
          <a:blipFill>
            <a:blip r:embed="rId4"/>
            <a:srcRect l="0" t="0" r="0" b="0"/>
            <a:stretch/>
          </a:blipFill>
        </p:spPr>
      </p:sp>
      <p:sp>
        <p:nvSpPr>
          <p:cNvPr id="11" name="Freeform 11"/>
          <p:cNvSpPr/>
          <p:nvPr/>
        </p:nvSpPr>
        <p:spPr bwMode="auto">
          <a:xfrm rot="0" flipH="0" flipV="0">
            <a:off x="13173931" y="6293853"/>
            <a:ext cx="4242992" cy="2681983"/>
          </a:xfrm>
          <a:custGeom>
            <a:avLst/>
            <a:gdLst/>
            <a:ahLst/>
            <a:cxnLst/>
            <a:rect l="l" t="t" r="r" b="b"/>
            <a:pathLst>
              <a:path w="4242992" h="2681983" fill="norm" stroke="1" extrusionOk="0">
                <a:moveTo>
                  <a:pt x="0" y="0"/>
                </a:moveTo>
                <a:lnTo>
                  <a:pt x="4242991" y="0"/>
                </a:lnTo>
                <a:lnTo>
                  <a:pt x="4242991" y="2681984"/>
                </a:lnTo>
                <a:lnTo>
                  <a:pt x="0" y="2681984"/>
                </a:lnTo>
                <a:lnTo>
                  <a:pt x="0" y="0"/>
                </a:lnTo>
                <a:close/>
              </a:path>
            </a:pathLst>
          </a:custGeom>
          <a:blipFill>
            <a:blip r:embed="rId5"/>
            <a:srcRect l="6225" t="14692" r="4891" b="16174"/>
            <a:stretch/>
          </a:blipFill>
        </p:spPr>
      </p:sp>
      <p:sp>
        <p:nvSpPr>
          <p:cNvPr id="12" name="TextBox 12"/>
          <p:cNvSpPr txBox="1"/>
          <p:nvPr/>
        </p:nvSpPr>
        <p:spPr bwMode="auto">
          <a:xfrm rot="0">
            <a:off x="4183337" y="3703043"/>
            <a:ext cx="9939322" cy="3531975"/>
          </a:xfrm>
          <a:prstGeom prst="rect">
            <a:avLst/>
          </a:prstGeom>
        </p:spPr>
        <p:txBody>
          <a:bodyPr lIns="0" tIns="0" rIns="0" bIns="0" rtlCol="0" anchor="t">
            <a:spAutoFit/>
          </a:bodyPr>
          <a:lstStyle/>
          <a:p>
            <a:pPr algn="ctr">
              <a:lnSpc>
                <a:spcPts val="13904"/>
              </a:lnSpc>
              <a:defRPr/>
            </a:pPr>
            <a:r>
              <a:rPr lang="en-US" sz="7200" b="1">
                <a:solidFill>
                  <a:srgbClr val="261310"/>
                </a:solidFill>
                <a:latin typeface="Grand Cru S Ultra-Bold"/>
                <a:ea typeface="Grand Cru S Ultra-Bold"/>
                <a:cs typeface="Grand Cru S Ultra-Bold"/>
              </a:rPr>
              <a:t>Quantum-Safe Hashing Algorithm</a:t>
            </a:r>
            <a:endParaRPr/>
          </a:p>
        </p:txBody>
      </p:sp>
      <p:sp>
        <p:nvSpPr>
          <p:cNvPr id="13" name="Freeform 13"/>
          <p:cNvSpPr/>
          <p:nvPr/>
        </p:nvSpPr>
        <p:spPr bwMode="auto">
          <a:xfrm rot="0" flipH="0" flipV="0">
            <a:off x="1186322" y="2069819"/>
            <a:ext cx="3502854" cy="6816969"/>
          </a:xfrm>
          <a:custGeom>
            <a:avLst/>
            <a:gdLst/>
            <a:ahLst/>
            <a:cxnLst/>
            <a:rect l="l" t="t" r="r" b="b"/>
            <a:pathLst>
              <a:path w="3502854" h="6816969" fill="norm" stroke="1" extrusionOk="0">
                <a:moveTo>
                  <a:pt x="0" y="0"/>
                </a:moveTo>
                <a:lnTo>
                  <a:pt x="3502854" y="0"/>
                </a:lnTo>
                <a:lnTo>
                  <a:pt x="3502854" y="6816970"/>
                </a:lnTo>
                <a:lnTo>
                  <a:pt x="0" y="6816970"/>
                </a:lnTo>
                <a:lnTo>
                  <a:pt x="0" y="0"/>
                </a:lnTo>
                <a:close/>
              </a:path>
            </a:pathLst>
          </a:custGeom>
          <a:blipFill>
            <a:blip r:embed="rId6"/>
            <a:srcRect l="0" t="0" r="0" b="0"/>
            <a:stretch/>
          </a:blipFill>
        </p:spPr>
      </p:sp>
      <p:sp>
        <p:nvSpPr>
          <p:cNvPr id="14" name="Freeform 14"/>
          <p:cNvSpPr/>
          <p:nvPr/>
        </p:nvSpPr>
        <p:spPr bwMode="auto">
          <a:xfrm rot="-9536387" flipH="0" flipV="0">
            <a:off x="12906278" y="1468382"/>
            <a:ext cx="3399978" cy="1673325"/>
          </a:xfrm>
          <a:custGeom>
            <a:avLst/>
            <a:gdLst/>
            <a:ahLst/>
            <a:cxnLst/>
            <a:rect l="l" t="t" r="r" b="b"/>
            <a:pathLst>
              <a:path w="3399978" h="1673325" fill="norm" stroke="1" extrusionOk="0">
                <a:moveTo>
                  <a:pt x="0" y="0"/>
                </a:moveTo>
                <a:lnTo>
                  <a:pt x="3399978" y="0"/>
                </a:lnTo>
                <a:lnTo>
                  <a:pt x="3399978" y="1673326"/>
                </a:lnTo>
                <a:lnTo>
                  <a:pt x="0" y="1673326"/>
                </a:lnTo>
                <a:lnTo>
                  <a:pt x="0" y="0"/>
                </a:lnTo>
                <a:close/>
              </a:path>
            </a:pathLst>
          </a:custGeom>
          <a:blipFill>
            <a:blip r:embed="rId7"/>
            <a:srcRect l="0" t="0" r="0" b="0"/>
            <a:stretch/>
          </a:blipFill>
        </p:spPr>
      </p:sp>
      <p:sp>
        <p:nvSpPr>
          <p:cNvPr id="15" name="TextBox 15"/>
          <p:cNvSpPr txBox="1"/>
          <p:nvPr/>
        </p:nvSpPr>
        <p:spPr bwMode="auto">
          <a:xfrm rot="0">
            <a:off x="6548721" y="2560128"/>
            <a:ext cx="5551030" cy="874881"/>
          </a:xfrm>
          <a:prstGeom prst="rect">
            <a:avLst/>
          </a:prstGeom>
        </p:spPr>
        <p:txBody>
          <a:bodyPr lIns="0" tIns="0" rIns="0" bIns="0" rtlCol="0" anchor="t">
            <a:spAutoFit/>
          </a:bodyPr>
          <a:lstStyle/>
          <a:p>
            <a:pPr algn="ctr">
              <a:lnSpc>
                <a:spcPts val="3443"/>
              </a:lnSpc>
              <a:defRPr/>
            </a:pPr>
            <a:r>
              <a:rPr lang="en-US" sz="2450" b="1">
                <a:solidFill>
                  <a:srgbClr val="261310"/>
                </a:solidFill>
                <a:latin typeface="Glacial Indifference Bold"/>
                <a:ea typeface="Glacial Indifference Bold"/>
                <a:cs typeface="Glacial Indifference Bold"/>
              </a:rPr>
              <a:t>PQC:</a:t>
            </a:r>
            <a:r>
              <a:rPr lang="en-US" sz="2450" b="1">
                <a:solidFill>
                  <a:srgbClr val="261310"/>
                </a:solidFill>
                <a:latin typeface="Glacial Indifference Bold"/>
                <a:ea typeface="Glacial Indifference Bold"/>
                <a:cs typeface="Glacial Indifference Bold"/>
              </a:rPr>
              <a:t>The future of </a:t>
            </a:r>
            <a:endParaRPr lang="en-US" sz="2450" b="1">
              <a:solidFill>
                <a:srgbClr val="261310"/>
              </a:solidFill>
              <a:latin typeface="Glacial Indifference Bold"/>
              <a:ea typeface="Glacial Indifference Bold"/>
              <a:cs typeface="Glacial Indifference Bold"/>
            </a:endParaRPr>
          </a:p>
          <a:p>
            <a:pPr algn="ctr">
              <a:lnSpc>
                <a:spcPts val="3442"/>
              </a:lnSpc>
              <a:defRPr/>
            </a:pPr>
            <a:r>
              <a:rPr lang="en-US" sz="2450" b="1">
                <a:solidFill>
                  <a:srgbClr val="261310"/>
                </a:solidFill>
                <a:latin typeface="Glacial Indifference Bold"/>
                <a:ea typeface="Glacial Indifference Bold"/>
                <a:cs typeface="Glacial Indifference Bold"/>
              </a:rPr>
              <a:t>Quantum resistance cryptography</a:t>
            </a:r>
            <a:endParaRPr/>
          </a:p>
        </p:txBody>
      </p:sp>
      <p:sp>
        <p:nvSpPr>
          <p:cNvPr id="16" name="TextBox 16"/>
          <p:cNvSpPr txBox="1"/>
          <p:nvPr/>
        </p:nvSpPr>
        <p:spPr bwMode="auto">
          <a:xfrm rot="0">
            <a:off x="6548720" y="7482162"/>
            <a:ext cx="5525109" cy="437620"/>
          </a:xfrm>
          <a:prstGeom prst="rect">
            <a:avLst/>
          </a:prstGeom>
        </p:spPr>
        <p:txBody>
          <a:bodyPr lIns="0" tIns="0" rIns="0" bIns="0" rtlCol="0" anchor="t">
            <a:spAutoFit/>
          </a:bodyPr>
          <a:lstStyle/>
          <a:p>
            <a:pPr algn="ctr">
              <a:lnSpc>
                <a:spcPts val="3443"/>
              </a:lnSpc>
              <a:spcBef>
                <a:spcPts val="0"/>
              </a:spcBef>
              <a:defRPr/>
            </a:pPr>
            <a:r>
              <a:rPr lang="en-US" sz="2450" b="1">
                <a:solidFill>
                  <a:schemeClr val="tx2">
                    <a:lumMod val="75000"/>
                    <a:lumOff val="25000"/>
                  </a:schemeClr>
                </a:solidFill>
                <a:latin typeface="Glacial Indifference Bold"/>
                <a:ea typeface="Glacial Indifference Bold"/>
                <a:cs typeface="Glacial Indifference Bold"/>
              </a:rPr>
              <a:t>Presented </a:t>
            </a:r>
            <a:r>
              <a:rPr lang="en-US" sz="2450" b="1">
                <a:solidFill>
                  <a:schemeClr val="tx2">
                    <a:lumMod val="75000"/>
                    <a:lumOff val="25000"/>
                  </a:schemeClr>
                </a:solidFill>
                <a:latin typeface="Glacial Indifference Bold"/>
                <a:ea typeface="Glacial Indifference Bold"/>
                <a:cs typeface="Glacial Indifference Bold"/>
              </a:rPr>
              <a:t>by: Dana Abushawesh</a:t>
            </a:r>
            <a:endParaRPr>
              <a:solidFill>
                <a:schemeClr val="tx2">
                  <a:lumMod val="75000"/>
                  <a:lumOff val="25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360192" y="274221"/>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2094425" y="2314126"/>
            <a:ext cx="7713366" cy="2829374"/>
          </a:xfrm>
          <a:prstGeom prst="rect">
            <a:avLst/>
          </a:prstGeom>
        </p:spPr>
        <p:txBody>
          <a:bodyPr lIns="0" tIns="0" rIns="0" bIns="0" rtlCol="0" anchor="t">
            <a:spAutoFit/>
          </a:bodyPr>
          <a:lstStyle/>
          <a:p>
            <a:pPr algn="l">
              <a:lnSpc>
                <a:spcPts val="11130"/>
              </a:lnSpc>
              <a:defRPr/>
            </a:pPr>
            <a:r>
              <a:rPr lang="en-US" sz="9350" b="1">
                <a:solidFill>
                  <a:srgbClr val="261310"/>
                </a:solidFill>
                <a:latin typeface="Grand Cru S Medium"/>
                <a:ea typeface="Grand Cru S Medium"/>
                <a:cs typeface="Grand Cru S Medium"/>
              </a:rPr>
              <a:t>Project</a:t>
            </a:r>
            <a:endParaRPr/>
          </a:p>
          <a:p>
            <a:pPr algn="l">
              <a:lnSpc>
                <a:spcPts val="11130"/>
              </a:lnSpc>
              <a:defRPr/>
            </a:pPr>
            <a:r>
              <a:rPr lang="en-US" sz="9350" b="1">
                <a:solidFill>
                  <a:srgbClr val="261310"/>
                </a:solidFill>
                <a:latin typeface="Grand Cru S Medium"/>
                <a:ea typeface="Grand Cru S Medium"/>
                <a:cs typeface="Grand Cru S Medium"/>
              </a:rPr>
              <a:t>Overview</a:t>
            </a:r>
            <a:endParaRPr/>
          </a:p>
        </p:txBody>
      </p:sp>
      <p:sp>
        <p:nvSpPr>
          <p:cNvPr id="10" name="TextBox 10"/>
          <p:cNvSpPr txBox="1"/>
          <p:nvPr/>
        </p:nvSpPr>
        <p:spPr bwMode="auto">
          <a:xfrm rot="0" flipH="0" flipV="0">
            <a:off x="1006621" y="5357830"/>
            <a:ext cx="8029962" cy="3170279"/>
          </a:xfrm>
          <a:prstGeom prst="rect">
            <a:avLst/>
          </a:prstGeom>
        </p:spPr>
        <p:txBody>
          <a:bodyPr lIns="0" tIns="0" rIns="0" bIns="0" rtlCol="0" anchor="t">
            <a:spAutoFit/>
          </a:bodyPr>
          <a:lstStyle/>
          <a:p>
            <a:pPr>
              <a:defRPr/>
            </a:pPr>
            <a:r>
              <a:rPr sz="2600" b="0" i="0" u="none">
                <a:solidFill>
                  <a:srgbClr val="000000"/>
                </a:solidFill>
                <a:latin typeface="Times New Roman"/>
                <a:ea typeface="Times New Roman"/>
                <a:cs typeface="Times New Roman"/>
              </a:rPr>
              <a:t>This Project presents a post-quantum cryptographic hashing algorithm designed to resist quantum attacks, including Grover's algorithm. By utilizing two random oracles and Boltzmann's entropy to generate dynamic entropy, the algorithm produces a quantum-safe hash that is highly resistant to reversal or preimage attacks. Experimental results confirm its robustness, marking a significant advancement in post-quantum cryptography.</a:t>
            </a:r>
            <a:endParaRPr sz="2600"/>
          </a:p>
        </p:txBody>
      </p:sp>
      <p:sp>
        <p:nvSpPr>
          <p:cNvPr id="11" name="Freeform 11"/>
          <p:cNvSpPr/>
          <p:nvPr/>
        </p:nvSpPr>
        <p:spPr bwMode="auto">
          <a:xfrm rot="-10800000" flipH="0" flipV="0">
            <a:off x="10216891" y="1221928"/>
            <a:ext cx="6363889" cy="1306929"/>
          </a:xfrm>
          <a:custGeom>
            <a:avLst/>
            <a:gdLst/>
            <a:ahLst/>
            <a:cxnLst/>
            <a:rect l="l" t="t" r="r" b="b"/>
            <a:pathLst>
              <a:path w="6363890" h="1306929" fill="norm" stroke="1" extrusionOk="0">
                <a:moveTo>
                  <a:pt x="0" y="0"/>
                </a:moveTo>
                <a:lnTo>
                  <a:pt x="6363890" y="0"/>
                </a:lnTo>
                <a:lnTo>
                  <a:pt x="6363890" y="1306929"/>
                </a:lnTo>
                <a:lnTo>
                  <a:pt x="0" y="1306929"/>
                </a:lnTo>
                <a:lnTo>
                  <a:pt x="0" y="0"/>
                </a:lnTo>
                <a:close/>
              </a:path>
            </a:pathLst>
          </a:custGeom>
          <a:blipFill>
            <a:blip r:embed="rId3"/>
            <a:srcRect l="0" t="0" r="0" b="0"/>
            <a:stretch/>
          </a:blipFill>
        </p:spPr>
      </p:sp>
      <p:sp>
        <p:nvSpPr>
          <p:cNvPr id="84320858" name="Freeform 9"/>
          <p:cNvSpPr/>
          <p:nvPr/>
        </p:nvSpPr>
        <p:spPr bwMode="auto">
          <a:xfrm rot="0" flipH="0" flipV="0">
            <a:off x="11316646" y="3748657"/>
            <a:ext cx="4080448" cy="3794112"/>
          </a:xfrm>
          <a:custGeom>
            <a:avLst/>
            <a:gdLst/>
            <a:ahLst/>
            <a:cxnLst/>
            <a:rect l="l" t="t" r="r" b="b"/>
            <a:pathLst>
              <a:path w="2738459" h="3218346" fill="norm" stroke="1" extrusionOk="0">
                <a:moveTo>
                  <a:pt x="0" y="0"/>
                </a:moveTo>
                <a:lnTo>
                  <a:pt x="2738459" y="0"/>
                </a:lnTo>
                <a:lnTo>
                  <a:pt x="2738459" y="3218346"/>
                </a:lnTo>
                <a:lnTo>
                  <a:pt x="0" y="3218346"/>
                </a:lnTo>
                <a:lnTo>
                  <a:pt x="0" y="0"/>
                </a:lnTo>
                <a:close/>
              </a:path>
            </a:pathLst>
          </a:custGeom>
          <a:blipFill>
            <a:blip r:embed="rId4"/>
            <a:srcRect l="10055" t="4018" r="12795" b="5316"/>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3811137" y="2357096"/>
            <a:ext cx="10862324" cy="2523087"/>
          </a:xfrm>
          <a:prstGeom prst="rect">
            <a:avLst/>
          </a:prstGeom>
        </p:spPr>
        <p:txBody>
          <a:bodyPr lIns="0" tIns="0" rIns="0" bIns="0" rtlCol="0" anchor="t">
            <a:spAutoFit/>
          </a:bodyPr>
          <a:lstStyle/>
          <a:p>
            <a:pPr algn="ctr">
              <a:lnSpc>
                <a:spcPts val="9932"/>
              </a:lnSpc>
              <a:defRPr/>
            </a:pPr>
            <a:r>
              <a:rPr lang="en-US" sz="8350" b="1">
                <a:solidFill>
                  <a:srgbClr val="261310"/>
                </a:solidFill>
                <a:latin typeface="Grand Cru S Bold"/>
                <a:ea typeface="Grand Cru S Bold"/>
                <a:cs typeface="Grand Cru S Bold"/>
              </a:rPr>
              <a:t>What is Quantum computer</a:t>
            </a:r>
            <a:r>
              <a:rPr lang="en-US" sz="8350" b="1">
                <a:solidFill>
                  <a:srgbClr val="261310"/>
                </a:solidFill>
                <a:latin typeface="Grand Cru S Bold"/>
                <a:ea typeface="Grand Cru S Bold"/>
                <a:cs typeface="Grand Cru S Bold"/>
              </a:rPr>
              <a:t>?</a:t>
            </a:r>
            <a:endParaRPr/>
          </a:p>
        </p:txBody>
      </p:sp>
      <p:sp>
        <p:nvSpPr>
          <p:cNvPr id="10" name="TextBox 10"/>
          <p:cNvSpPr txBox="1"/>
          <p:nvPr/>
        </p:nvSpPr>
        <p:spPr bwMode="auto">
          <a:xfrm rot="0">
            <a:off x="4305335" y="5199084"/>
            <a:ext cx="9679847" cy="3804390"/>
          </a:xfrm>
          <a:prstGeom prst="rect">
            <a:avLst/>
          </a:prstGeom>
        </p:spPr>
        <p:txBody>
          <a:bodyPr lIns="0" tIns="0" rIns="0" bIns="0" rtlCol="0" anchor="t">
            <a:spAutoFit/>
          </a:bodyPr>
          <a:lstStyle/>
          <a:p>
            <a:pPr>
              <a:defRPr/>
            </a:pPr>
            <a:r>
              <a:rPr sz="2600" b="0" i="0" u="none">
                <a:solidFill>
                  <a:schemeClr val="tx1">
                    <a:lumMod val="65000"/>
                    <a:lumOff val="35000"/>
                  </a:schemeClr>
                </a:solidFill>
                <a:latin typeface="Times New Roman"/>
                <a:ea typeface="Times New Roman"/>
                <a:cs typeface="Times New Roman"/>
              </a:rPr>
              <a:t>A quantum computer is a type of computer that uses the principles of quantum mechanics to process information. Unlike classical computers, which use bits (0 or 1) for computation, quantum computers use quantum bits, or qubits, which can exist in multiple states simultaneously (superposition) and be interconnected (entanglement). This allows quantum computers to perform certain types of calculations much faster than classical computers, making them powerful for tasks like cryptography, optimization, and simulating quantum systems.</a:t>
            </a:r>
            <a:endParaRPr sz="2600">
              <a:solidFill>
                <a:schemeClr val="tx1">
                  <a:lumMod val="65000"/>
                  <a:lumOff val="35000"/>
                </a:schemeClr>
              </a:solidFill>
            </a:endParaRPr>
          </a:p>
          <a:p>
            <a:pPr algn="ctr">
              <a:lnSpc>
                <a:spcPts val="4992"/>
              </a:lnSpc>
              <a:defRPr/>
            </a:pPr>
            <a:r>
              <a:rPr sz="1000" b="0" i="0" u="none">
                <a:solidFill>
                  <a:srgbClr val="000000"/>
                </a:solidFill>
                <a:latin typeface="Arial"/>
                <a:ea typeface="Arial"/>
                <a:cs typeface="Arial"/>
              </a:rPr>
              <a:t>4o</a:t>
            </a:r>
            <a:endParaRPr/>
          </a:p>
        </p:txBody>
      </p:sp>
      <p:sp>
        <p:nvSpPr>
          <p:cNvPr id="11" name="Freeform 11"/>
          <p:cNvSpPr/>
          <p:nvPr/>
        </p:nvSpPr>
        <p:spPr bwMode="auto">
          <a:xfrm rot="5400000" flipH="0" flipV="0">
            <a:off x="12202032" y="4372874"/>
            <a:ext cx="7504885" cy="1541251"/>
          </a:xfrm>
          <a:custGeom>
            <a:avLst/>
            <a:gdLst/>
            <a:ahLst/>
            <a:cxnLst/>
            <a:rect l="l" t="t" r="r" b="b"/>
            <a:pathLst>
              <a:path w="7504886" h="1541251" fill="norm" stroke="1" extrusionOk="0">
                <a:moveTo>
                  <a:pt x="0" y="0"/>
                </a:moveTo>
                <a:lnTo>
                  <a:pt x="7504886" y="0"/>
                </a:lnTo>
                <a:lnTo>
                  <a:pt x="7504886" y="1541252"/>
                </a:lnTo>
                <a:lnTo>
                  <a:pt x="0" y="1541252"/>
                </a:lnTo>
                <a:lnTo>
                  <a:pt x="0" y="0"/>
                </a:lnTo>
                <a:close/>
              </a:path>
            </a:pathLst>
          </a:custGeom>
          <a:blipFill>
            <a:blip r:embed="rId3"/>
            <a:srcRect l="0" t="0" r="0" b="0"/>
            <a:stretch/>
          </a:blipFill>
        </p:spPr>
      </p:sp>
      <p:sp>
        <p:nvSpPr>
          <p:cNvPr id="12" name="Freeform 12"/>
          <p:cNvSpPr/>
          <p:nvPr/>
        </p:nvSpPr>
        <p:spPr bwMode="auto">
          <a:xfrm rot="5400000" flipH="0" flipV="0">
            <a:off x="-1582655" y="4360322"/>
            <a:ext cx="7608663" cy="1562563"/>
          </a:xfrm>
          <a:custGeom>
            <a:avLst/>
            <a:gdLst/>
            <a:ahLst/>
            <a:cxnLst/>
            <a:rect l="l" t="t" r="r" b="b"/>
            <a:pathLst>
              <a:path w="7608663" h="1562563" fill="norm" stroke="1" extrusionOk="0">
                <a:moveTo>
                  <a:pt x="0" y="0"/>
                </a:moveTo>
                <a:lnTo>
                  <a:pt x="7608663" y="0"/>
                </a:lnTo>
                <a:lnTo>
                  <a:pt x="7608663" y="1562564"/>
                </a:lnTo>
                <a:lnTo>
                  <a:pt x="0" y="1562564"/>
                </a:lnTo>
                <a:lnTo>
                  <a:pt x="0" y="0"/>
                </a:lnTo>
                <a:close/>
              </a:path>
            </a:pathLst>
          </a:custGeom>
          <a:blipFill>
            <a:blip r:embed="rId3"/>
            <a:src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1425564962" name="Group 2"/>
          <p:cNvGrpSpPr/>
          <p:nvPr/>
        </p:nvGrpSpPr>
        <p:grpSpPr bwMode="auto">
          <a:xfrm rot="0">
            <a:off x="84365" y="304033"/>
            <a:ext cx="17404552" cy="9563362"/>
            <a:chOff x="0" y="0"/>
            <a:chExt cx="17404552" cy="9563362"/>
          </a:xfrm>
        </p:grpSpPr>
        <p:grpSp>
          <p:nvGrpSpPr>
            <p:cNvPr id="65215500" name="Group 3"/>
            <p:cNvGrpSpPr/>
            <p:nvPr/>
          </p:nvGrpSpPr>
          <p:grpSpPr bwMode="auto">
            <a:xfrm rot="0">
              <a:off x="0" y="0"/>
              <a:ext cx="17404552" cy="9563362"/>
              <a:chOff x="0" y="0"/>
              <a:chExt cx="17404552" cy="9563362"/>
            </a:xfrm>
          </p:grpSpPr>
          <p:sp>
            <p:nvSpPr>
              <p:cNvPr id="729928947" name="Freeform 4"/>
              <p:cNvSpPr/>
              <p:nvPr/>
            </p:nvSpPr>
            <p:spPr bwMode="auto">
              <a:xfrm rot="0" flipH="0" flipV="0">
                <a:off x="0" y="36066"/>
                <a:ext cx="17404552" cy="9527295"/>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661347010" name="TextBox 5"/>
              <p:cNvSpPr txBox="1"/>
              <p:nvPr/>
            </p:nvSpPr>
            <p:spPr bwMode="auto">
              <a:xfrm>
                <a:off x="144265" y="0"/>
                <a:ext cx="17116021" cy="9419096"/>
              </a:xfrm>
              <a:prstGeom prst="rect">
                <a:avLst/>
              </a:prstGeom>
              <a:grpFill/>
            </p:spPr>
            <p:txBody>
              <a:bodyPr lIns="50799" tIns="50799" rIns="50799" bIns="50799" rtlCol="0" anchor="ctr"/>
              <a:lstStyle/>
              <a:p>
                <a:pPr algn="ctr">
                  <a:lnSpc>
                    <a:spcPts val="2658"/>
                  </a:lnSpc>
                  <a:defRPr/>
                </a:pPr>
                <a:endParaRPr/>
              </a:p>
            </p:txBody>
          </p:sp>
        </p:grpSp>
        <p:grpSp>
          <p:nvGrpSpPr>
            <p:cNvPr id="880902291" name="Group 6"/>
            <p:cNvGrpSpPr/>
            <p:nvPr/>
          </p:nvGrpSpPr>
          <p:grpSpPr bwMode="auto">
            <a:xfrm rot="0">
              <a:off x="127719" y="175578"/>
              <a:ext cx="17127271" cy="9276456"/>
              <a:chOff x="0" y="0"/>
              <a:chExt cx="17127271" cy="9276456"/>
            </a:xfrm>
          </p:grpSpPr>
          <p:sp>
            <p:nvSpPr>
              <p:cNvPr id="1285455036" name="Freeform 7"/>
              <p:cNvSpPr/>
              <p:nvPr/>
            </p:nvSpPr>
            <p:spPr bwMode="auto">
              <a:xfrm rot="0" flipH="0" flipV="0">
                <a:off x="0" y="0"/>
                <a:ext cx="17127271" cy="9238221"/>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1771078291" name="TextBox 8"/>
              <p:cNvSpPr txBox="1"/>
              <p:nvPr/>
            </p:nvSpPr>
            <p:spPr bwMode="auto">
              <a:xfrm flipH="0" flipV="0">
                <a:off x="13250" y="5231979"/>
                <a:ext cx="16843336" cy="4044476"/>
              </a:xfrm>
              <a:prstGeom prst="rect">
                <a:avLst/>
              </a:prstGeom>
              <a:grpFill/>
            </p:spPr>
            <p:txBody>
              <a:bodyPr lIns="50799" tIns="50799" rIns="50799" bIns="50799" rtlCol="0" anchor="ctr"/>
              <a:lstStyle/>
              <a:p>
                <a:pPr algn="ctr">
                  <a:lnSpc>
                    <a:spcPts val="2658"/>
                  </a:lnSpc>
                  <a:defRPr/>
                </a:pPr>
                <a:endParaRPr/>
              </a:p>
            </p:txBody>
          </p:sp>
        </p:grpSp>
      </p:grpSp>
      <p:sp>
        <p:nvSpPr>
          <p:cNvPr id="321338140" name="TextBox 9"/>
          <p:cNvSpPr txBox="1"/>
          <p:nvPr/>
        </p:nvSpPr>
        <p:spPr bwMode="auto">
          <a:xfrm rot="0" flipH="0" flipV="0">
            <a:off x="2094424" y="2314125"/>
            <a:ext cx="9441902" cy="2827379"/>
          </a:xfrm>
          <a:prstGeom prst="rect">
            <a:avLst/>
          </a:prstGeom>
        </p:spPr>
        <p:txBody>
          <a:bodyPr lIns="0" tIns="0" rIns="0" bIns="0" rtlCol="0" anchor="t">
            <a:spAutoFit/>
          </a:bodyPr>
          <a:lstStyle/>
          <a:p>
            <a:pPr algn="l">
              <a:lnSpc>
                <a:spcPts val="11129"/>
              </a:lnSpc>
              <a:defRPr/>
            </a:pPr>
            <a:r>
              <a:rPr lang="en-US" sz="7200" b="1">
                <a:solidFill>
                  <a:srgbClr val="261310"/>
                </a:solidFill>
                <a:latin typeface="Grand Cru S Medium"/>
                <a:ea typeface="Grand Cru S Medium"/>
                <a:cs typeface="Grand Cru S Medium"/>
              </a:rPr>
              <a:t>Post Quantum cryptography</a:t>
            </a:r>
            <a:endParaRPr sz="7200"/>
          </a:p>
        </p:txBody>
      </p:sp>
      <p:sp>
        <p:nvSpPr>
          <p:cNvPr id="459193935" name="TextBox 10"/>
          <p:cNvSpPr txBox="1"/>
          <p:nvPr/>
        </p:nvSpPr>
        <p:spPr bwMode="auto">
          <a:xfrm rot="0" flipH="0" flipV="0">
            <a:off x="1006621" y="5357830"/>
            <a:ext cx="8031403" cy="2926439"/>
          </a:xfrm>
          <a:prstGeom prst="rect">
            <a:avLst/>
          </a:prstGeom>
        </p:spPr>
        <p:txBody>
          <a:bodyPr lIns="0" tIns="0" rIns="0" bIns="0" rtlCol="0" anchor="t">
            <a:spAutoFit/>
          </a:bodyPr>
          <a:lstStyle/>
          <a:p>
            <a:pPr>
              <a:defRPr/>
            </a:pPr>
            <a:r>
              <a:rPr sz="2600" b="0" i="0" u="none">
                <a:solidFill>
                  <a:schemeClr val="tx1">
                    <a:lumMod val="65000"/>
                    <a:lumOff val="35000"/>
                  </a:schemeClr>
                </a:solidFill>
                <a:latin typeface="Times New Roman"/>
                <a:ea typeface="Times New Roman"/>
                <a:cs typeface="Times New Roman"/>
              </a:rPr>
              <a:t>Post-quantum cryptography refers to cryptographic methods designed to remain secure against the potential threats posed by quantum computers. Unlike traditional cryptographic algorithms that quantum computers could break (e.g., RSA and ECC), post-quantum algorithms are built to resist attacks from quantum algorithms like Shor's and Grover's, ensuring data security in a quantum computing era.</a:t>
            </a:r>
            <a:endParaRPr sz="2600">
              <a:solidFill>
                <a:schemeClr val="tx1">
                  <a:lumMod val="65000"/>
                  <a:lumOff val="35000"/>
                </a:schemeClr>
              </a:solidFill>
            </a:endParaRPr>
          </a:p>
          <a:p>
            <a:pPr>
              <a:defRPr/>
            </a:pPr>
            <a:r>
              <a:rPr sz="1000" b="0" i="0" u="none">
                <a:solidFill>
                  <a:srgbClr val="000000"/>
                </a:solidFill>
                <a:latin typeface="Arial"/>
                <a:ea typeface="Arial"/>
                <a:cs typeface="Arial"/>
              </a:rPr>
              <a:t>4o</a:t>
            </a:r>
            <a:endParaRPr sz="2600"/>
          </a:p>
        </p:txBody>
      </p:sp>
      <p:pic>
        <p:nvPicPr>
          <p:cNvPr id="1624768142" name=""/>
          <p:cNvPicPr>
            <a:picLocks noChangeAspect="1"/>
          </p:cNvPicPr>
          <p:nvPr/>
        </p:nvPicPr>
        <p:blipFill>
          <a:blip r:embed="rId3"/>
          <a:stretch/>
        </p:blipFill>
        <p:spPr bwMode="auto">
          <a:xfrm flipH="0" flipV="0">
            <a:off x="9965270" y="2395148"/>
            <a:ext cx="6358581" cy="635858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58268" y="379277"/>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9411152" y="2693713"/>
            <a:ext cx="6731770" cy="2492855"/>
          </a:xfrm>
          <a:prstGeom prst="rect">
            <a:avLst/>
          </a:prstGeom>
        </p:spPr>
        <p:txBody>
          <a:bodyPr lIns="0" tIns="0" rIns="0" bIns="0" rtlCol="0" anchor="t">
            <a:spAutoFit/>
          </a:bodyPr>
          <a:lstStyle/>
          <a:p>
            <a:pPr algn="l">
              <a:lnSpc>
                <a:spcPts val="9739"/>
              </a:lnSpc>
              <a:defRPr/>
            </a:pPr>
            <a:r>
              <a:rPr lang="en-US" sz="8300" b="1">
                <a:solidFill>
                  <a:srgbClr val="261310"/>
                </a:solidFill>
                <a:latin typeface="Grand Cru S Bold"/>
                <a:ea typeface="Grand Cru S Bold"/>
                <a:cs typeface="Grand Cru S Bold"/>
              </a:rPr>
              <a:t>The</a:t>
            </a:r>
            <a:endParaRPr/>
          </a:p>
          <a:p>
            <a:pPr algn="l">
              <a:lnSpc>
                <a:spcPts val="9739"/>
              </a:lnSpc>
              <a:defRPr/>
            </a:pPr>
            <a:r>
              <a:rPr lang="en-US" sz="8300" b="1">
                <a:solidFill>
                  <a:srgbClr val="261310"/>
                </a:solidFill>
                <a:latin typeface="Grand Cru S Bold"/>
                <a:ea typeface="Grand Cru S Bold"/>
                <a:cs typeface="Grand Cru S Bold"/>
              </a:rPr>
              <a:t>research</a:t>
            </a:r>
            <a:endParaRPr/>
          </a:p>
        </p:txBody>
      </p:sp>
      <p:grpSp>
        <p:nvGrpSpPr>
          <p:cNvPr id="11" name="Group 11"/>
          <p:cNvGrpSpPr/>
          <p:nvPr/>
        </p:nvGrpSpPr>
        <p:grpSpPr bwMode="auto">
          <a:xfrm rot="0">
            <a:off x="9392102" y="5729493"/>
            <a:ext cx="1028340" cy="1028340"/>
            <a:chOff x="0" y="0"/>
            <a:chExt cx="1371120" cy="1371120"/>
          </a:xfrm>
        </p:grpSpPr>
        <p:grpSp>
          <p:nvGrpSpPr>
            <p:cNvPr id="12" name="Group 12"/>
            <p:cNvGrpSpPr/>
            <p:nvPr/>
          </p:nvGrpSpPr>
          <p:grpSpPr bwMode="auto">
            <a:xfrm rot="0">
              <a:off x="0" y="0"/>
              <a:ext cx="1371120" cy="1371120"/>
              <a:chOff x="0" y="0"/>
              <a:chExt cx="812800" cy="812800"/>
            </a:xfrm>
          </p:grpSpPr>
          <p:sp>
            <p:nvSpPr>
              <p:cNvPr id="13" name="Freeform 13"/>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14" name="TextBox 14"/>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15" name="TextBox 15"/>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01</a:t>
              </a:r>
              <a:endParaRPr/>
            </a:p>
          </p:txBody>
        </p:sp>
      </p:grpSp>
      <p:grpSp>
        <p:nvGrpSpPr>
          <p:cNvPr id="16" name="Group 16"/>
          <p:cNvGrpSpPr/>
          <p:nvPr/>
        </p:nvGrpSpPr>
        <p:grpSpPr bwMode="auto">
          <a:xfrm rot="0">
            <a:off x="9392102" y="7419116"/>
            <a:ext cx="1028340" cy="1028340"/>
            <a:chOff x="0" y="0"/>
            <a:chExt cx="1371120" cy="1371120"/>
          </a:xfrm>
        </p:grpSpPr>
        <p:grpSp>
          <p:nvGrpSpPr>
            <p:cNvPr id="17" name="Group 17"/>
            <p:cNvGrpSpPr/>
            <p:nvPr/>
          </p:nvGrpSpPr>
          <p:grpSpPr bwMode="auto">
            <a:xfrm rot="0">
              <a:off x="0" y="0"/>
              <a:ext cx="1371120" cy="1371120"/>
              <a:chOff x="0" y="0"/>
              <a:chExt cx="812800" cy="812800"/>
            </a:xfrm>
          </p:grpSpPr>
          <p:sp>
            <p:nvSpPr>
              <p:cNvPr id="18" name="Freeform 18"/>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19" name="TextBox 19"/>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20" name="TextBox 20"/>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02</a:t>
              </a:r>
              <a:endParaRPr/>
            </a:p>
          </p:txBody>
        </p:sp>
      </p:grpSp>
      <p:sp>
        <p:nvSpPr>
          <p:cNvPr id="21" name="TextBox 21"/>
          <p:cNvSpPr txBox="1"/>
          <p:nvPr/>
        </p:nvSpPr>
        <p:spPr bwMode="auto">
          <a:xfrm rot="0">
            <a:off x="10773160" y="5729492"/>
            <a:ext cx="6041397" cy="818239"/>
          </a:xfrm>
          <a:prstGeom prst="rect">
            <a:avLst/>
          </a:prstGeom>
        </p:spPr>
        <p:txBody>
          <a:bodyPr lIns="0" tIns="0" rIns="0" bIns="0" rtlCol="0" anchor="t">
            <a:spAutoFit/>
          </a:bodyPr>
          <a:lstStyle/>
          <a:p>
            <a:pPr algn="l">
              <a:lnSpc>
                <a:spcPts val="3220"/>
              </a:lnSpc>
              <a:defRPr/>
            </a:pPr>
            <a:r>
              <a:rPr sz="2000" b="0" i="0" u="none">
                <a:solidFill>
                  <a:srgbClr val="000000"/>
                </a:solidFill>
                <a:latin typeface="Times New Roman"/>
                <a:ea typeface="Times New Roman"/>
                <a:cs typeface="Times New Roman"/>
              </a:rPr>
              <a:t> Identified quantum computing threats to classical cryptography and the need for quantum-resistant hashing.</a:t>
            </a:r>
            <a:endParaRPr sz="2000"/>
          </a:p>
        </p:txBody>
      </p:sp>
      <p:sp>
        <p:nvSpPr>
          <p:cNvPr id="22" name="TextBox 22"/>
          <p:cNvSpPr txBox="1"/>
          <p:nvPr/>
        </p:nvSpPr>
        <p:spPr bwMode="auto">
          <a:xfrm rot="0">
            <a:off x="10713165" y="7314340"/>
            <a:ext cx="6041757" cy="914759"/>
          </a:xfrm>
          <a:prstGeom prst="rect">
            <a:avLst/>
          </a:prstGeom>
        </p:spPr>
        <p:txBody>
          <a:bodyPr lIns="0" tIns="0" rIns="0" bIns="0" rtlCol="0" anchor="t">
            <a:spAutoFit/>
          </a:bodyPr>
          <a:lstStyle/>
          <a:p>
            <a:pPr>
              <a:defRPr/>
            </a:pPr>
            <a:r>
              <a:rPr sz="2000" b="0" i="0" u="none">
                <a:solidFill>
                  <a:srgbClr val="000000"/>
                </a:solidFill>
                <a:latin typeface="Times New Roman"/>
                <a:ea typeface="Times New Roman"/>
                <a:cs typeface="Times New Roman"/>
              </a:rPr>
              <a:t>Developed a hashing algorithm with dynamic randomness using two random oracles and Boltzmann entropy, tested for quantum resistance through Grover’s simulation.</a:t>
            </a:r>
            <a:endParaRPr sz="2000"/>
          </a:p>
        </p:txBody>
      </p:sp>
      <p:sp>
        <p:nvSpPr>
          <p:cNvPr id="23" name="Freeform 23"/>
          <p:cNvSpPr/>
          <p:nvPr/>
        </p:nvSpPr>
        <p:spPr bwMode="auto">
          <a:xfrm rot="1844945" flipH="0" flipV="0">
            <a:off x="15383314" y="1851681"/>
            <a:ext cx="1984871" cy="1626913"/>
          </a:xfrm>
          <a:custGeom>
            <a:avLst/>
            <a:gdLst/>
            <a:ahLst/>
            <a:cxnLst/>
            <a:rect l="l" t="t" r="r" b="b"/>
            <a:pathLst>
              <a:path w="1984871" h="1626913" fill="norm" stroke="1" extrusionOk="0">
                <a:moveTo>
                  <a:pt x="0" y="0"/>
                </a:moveTo>
                <a:lnTo>
                  <a:pt x="1984871" y="0"/>
                </a:lnTo>
                <a:lnTo>
                  <a:pt x="1984871" y="1626912"/>
                </a:lnTo>
                <a:lnTo>
                  <a:pt x="0" y="1626912"/>
                </a:lnTo>
                <a:lnTo>
                  <a:pt x="0" y="0"/>
                </a:lnTo>
                <a:close/>
              </a:path>
            </a:pathLst>
          </a:custGeom>
          <a:blipFill>
            <a:blip r:embed="rId3"/>
            <a:srcRect l="0" t="0" r="0" b="0"/>
            <a:stretch/>
          </a:blipFill>
        </p:spPr>
      </p:sp>
      <p:sp>
        <p:nvSpPr>
          <p:cNvPr id="24" name="Freeform 24"/>
          <p:cNvSpPr/>
          <p:nvPr/>
        </p:nvSpPr>
        <p:spPr bwMode="auto">
          <a:xfrm rot="-5693596" flipH="0" flipV="0">
            <a:off x="13961439" y="1326641"/>
            <a:ext cx="1814864" cy="1487565"/>
          </a:xfrm>
          <a:custGeom>
            <a:avLst/>
            <a:gdLst/>
            <a:ahLst/>
            <a:cxnLst/>
            <a:rect l="l" t="t" r="r" b="b"/>
            <a:pathLst>
              <a:path w="1814864" h="1487565" fill="norm" stroke="1" extrusionOk="0">
                <a:moveTo>
                  <a:pt x="0" y="0"/>
                </a:moveTo>
                <a:lnTo>
                  <a:pt x="1814864" y="0"/>
                </a:lnTo>
                <a:lnTo>
                  <a:pt x="1814864" y="1487565"/>
                </a:lnTo>
                <a:lnTo>
                  <a:pt x="0" y="1487565"/>
                </a:lnTo>
                <a:lnTo>
                  <a:pt x="0" y="0"/>
                </a:lnTo>
                <a:close/>
              </a:path>
            </a:pathLst>
          </a:custGeom>
          <a:blipFill>
            <a:blip r:embed="rId3"/>
            <a:srcRect l="0" t="0" r="0" b="0"/>
            <a:stretch/>
          </a:blipFill>
        </p:spPr>
      </p:sp>
      <p:pic>
        <p:nvPicPr>
          <p:cNvPr id="1857179563" name=""/>
          <p:cNvPicPr>
            <a:picLocks noChangeAspect="1"/>
          </p:cNvPicPr>
          <p:nvPr/>
        </p:nvPicPr>
        <p:blipFill>
          <a:blip r:embed="rId4"/>
          <a:stretch/>
        </p:blipFill>
        <p:spPr bwMode="auto">
          <a:xfrm flipH="0" flipV="0">
            <a:off x="1315479" y="1322559"/>
            <a:ext cx="6864983" cy="72241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4980424" y="1854399"/>
            <a:ext cx="8784956" cy="2777890"/>
          </a:xfrm>
          <a:prstGeom prst="rect">
            <a:avLst/>
          </a:prstGeom>
        </p:spPr>
        <p:txBody>
          <a:bodyPr lIns="0" tIns="0" rIns="0" bIns="0" rtlCol="0" anchor="t">
            <a:spAutoFit/>
          </a:bodyPr>
          <a:lstStyle/>
          <a:p>
            <a:pPr algn="ctr">
              <a:lnSpc>
                <a:spcPts val="10958"/>
              </a:lnSpc>
              <a:defRPr/>
            </a:pPr>
            <a:r>
              <a:rPr lang="en-US" sz="8700" b="1">
                <a:solidFill>
                  <a:srgbClr val="261310"/>
                </a:solidFill>
                <a:latin typeface="Grand Cru S Bold"/>
                <a:ea typeface="Grand Cru S Bold"/>
                <a:cs typeface="Grand Cru S Bold"/>
              </a:rPr>
              <a:t>Project</a:t>
            </a:r>
            <a:endParaRPr/>
          </a:p>
          <a:p>
            <a:pPr algn="ctr">
              <a:lnSpc>
                <a:spcPts val="10958"/>
              </a:lnSpc>
              <a:defRPr/>
            </a:pPr>
            <a:r>
              <a:rPr lang="en-US" sz="8700" b="1">
                <a:solidFill>
                  <a:srgbClr val="261310"/>
                </a:solidFill>
                <a:latin typeface="Grand Cru S Bold"/>
                <a:ea typeface="Grand Cru S Bold"/>
                <a:cs typeface="Grand Cru S Bold"/>
              </a:rPr>
              <a:t>Objectives</a:t>
            </a:r>
            <a:endParaRPr/>
          </a:p>
        </p:txBody>
      </p:sp>
      <p:sp>
        <p:nvSpPr>
          <p:cNvPr id="10" name="TextBox 10"/>
          <p:cNvSpPr txBox="1"/>
          <p:nvPr/>
        </p:nvSpPr>
        <p:spPr bwMode="auto">
          <a:xfrm rot="0">
            <a:off x="1801458" y="5367789"/>
            <a:ext cx="14830523" cy="1006200"/>
          </a:xfrm>
          <a:prstGeom prst="rect">
            <a:avLst/>
          </a:prstGeom>
        </p:spPr>
        <p:txBody>
          <a:bodyPr lIns="0" tIns="0" rIns="0" bIns="0" rtlCol="0" anchor="t">
            <a:spAutoFit/>
          </a:bodyPr>
          <a:lstStyle/>
          <a:p>
            <a:pPr>
              <a:defRPr/>
            </a:pPr>
            <a:r>
              <a:rPr sz="2200" b="0" i="0" u="none">
                <a:solidFill>
                  <a:schemeClr val="tx1">
                    <a:lumMod val="65000"/>
                    <a:lumOff val="35000"/>
                  </a:schemeClr>
                </a:solidFill>
                <a:latin typeface="Times New Roman"/>
                <a:ea typeface="Times New Roman"/>
                <a:cs typeface="Times New Roman"/>
              </a:rPr>
              <a:t>To design and develop a post-quantum cryptographic hashing algorithm that resists quantum-based attacks, particularly Grover's algorithm, by utilizing dynamic entropy generated through two random oracles and Boltzmann entropy. The objective is to ensure the algorithm’s quantum resistance by creating a robust, computationally infeasible hash function. </a:t>
            </a:r>
            <a:endParaRPr sz="2200">
              <a:solidFill>
                <a:schemeClr val="tx1">
                  <a:lumMod val="65000"/>
                  <a:lumOff val="35000"/>
                </a:schemeClr>
              </a:solidFill>
            </a:endParaRPr>
          </a:p>
        </p:txBody>
      </p:sp>
      <p:sp>
        <p:nvSpPr>
          <p:cNvPr id="11" name="Freeform 11"/>
          <p:cNvSpPr/>
          <p:nvPr/>
        </p:nvSpPr>
        <p:spPr bwMode="auto">
          <a:xfrm rot="0" flipH="0" flipV="0">
            <a:off x="1801458" y="1472102"/>
            <a:ext cx="3160459" cy="3444701"/>
          </a:xfrm>
          <a:custGeom>
            <a:avLst/>
            <a:gdLst/>
            <a:ahLst/>
            <a:cxnLst/>
            <a:rect l="l" t="t" r="r" b="b"/>
            <a:pathLst>
              <a:path w="3160459" h="3444701" fill="norm" stroke="1" extrusionOk="0">
                <a:moveTo>
                  <a:pt x="0" y="0"/>
                </a:moveTo>
                <a:lnTo>
                  <a:pt x="3160459" y="0"/>
                </a:lnTo>
                <a:lnTo>
                  <a:pt x="3160459" y="3444700"/>
                </a:lnTo>
                <a:lnTo>
                  <a:pt x="0" y="3444700"/>
                </a:lnTo>
                <a:lnTo>
                  <a:pt x="0" y="0"/>
                </a:lnTo>
                <a:close/>
              </a:path>
            </a:pathLst>
          </a:custGeom>
          <a:blipFill>
            <a:blip r:embed="rId3"/>
            <a:srcRect l="10058" t="6226" r="10057" b="6703"/>
            <a:stretch/>
          </a:blipFill>
        </p:spPr>
      </p:sp>
      <p:sp>
        <p:nvSpPr>
          <p:cNvPr id="12" name="Freeform 12"/>
          <p:cNvSpPr/>
          <p:nvPr/>
        </p:nvSpPr>
        <p:spPr bwMode="auto">
          <a:xfrm rot="0" flipH="0" flipV="0">
            <a:off x="13626265" y="1544806"/>
            <a:ext cx="3160459" cy="3444701"/>
          </a:xfrm>
          <a:custGeom>
            <a:avLst/>
            <a:gdLst/>
            <a:ahLst/>
            <a:cxnLst/>
            <a:rect l="l" t="t" r="r" b="b"/>
            <a:pathLst>
              <a:path w="3160459" h="3444701" fill="norm" stroke="1" extrusionOk="0">
                <a:moveTo>
                  <a:pt x="0" y="0"/>
                </a:moveTo>
                <a:lnTo>
                  <a:pt x="3160459" y="0"/>
                </a:lnTo>
                <a:lnTo>
                  <a:pt x="3160459" y="3444701"/>
                </a:lnTo>
                <a:lnTo>
                  <a:pt x="0" y="3444701"/>
                </a:lnTo>
                <a:lnTo>
                  <a:pt x="0" y="0"/>
                </a:lnTo>
                <a:close/>
              </a:path>
            </a:pathLst>
          </a:custGeom>
          <a:blipFill>
            <a:blip r:embed="rId3"/>
            <a:srcRect l="10058" t="6226" r="10057" b="6703"/>
            <a:stretch/>
          </a:blipFill>
        </p:spPr>
      </p:sp>
      <p:sp>
        <p:nvSpPr>
          <p:cNvPr id="13" name="TextBox 13"/>
          <p:cNvSpPr txBox="1"/>
          <p:nvPr/>
        </p:nvSpPr>
        <p:spPr bwMode="auto">
          <a:xfrm rot="0">
            <a:off x="1734901" y="6598134"/>
            <a:ext cx="14829443" cy="1006200"/>
          </a:xfrm>
          <a:prstGeom prst="rect">
            <a:avLst/>
          </a:prstGeom>
        </p:spPr>
        <p:txBody>
          <a:bodyPr lIns="0" tIns="0" rIns="0" bIns="0" rtlCol="0" anchor="t">
            <a:spAutoFit/>
          </a:bodyPr>
          <a:lstStyle/>
          <a:p>
            <a:pPr>
              <a:defRPr/>
            </a:pPr>
            <a:r>
              <a:rPr sz="2200" b="0" i="0" u="none">
                <a:solidFill>
                  <a:schemeClr val="tx1">
                    <a:lumMod val="65000"/>
                    <a:lumOff val="35000"/>
                  </a:schemeClr>
                </a:solidFill>
                <a:latin typeface="Times New Roman"/>
                <a:ea typeface="Times New Roman"/>
                <a:cs typeface="Times New Roman"/>
              </a:rPr>
              <a:t>This will be validated through extensive testing, including Grover’s simulation, randomness tests, and performance evaluations across different scenarios. The project also aims to contribute to the field of post-quantum cryptography by proposing an innovative approach to enhance cryptographic security against future quantum threats.</a:t>
            </a:r>
            <a:endParaRPr sz="2200">
              <a:solidFill>
                <a:schemeClr val="tx1">
                  <a:lumMod val="65000"/>
                  <a:lumOff val="35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12" name="TextBox 12"/>
          <p:cNvSpPr txBox="1"/>
          <p:nvPr/>
        </p:nvSpPr>
        <p:spPr bwMode="auto">
          <a:xfrm rot="0">
            <a:off x="1950667" y="2787129"/>
            <a:ext cx="8348989" cy="2342239"/>
          </a:xfrm>
          <a:prstGeom prst="rect">
            <a:avLst/>
          </a:prstGeom>
        </p:spPr>
        <p:txBody>
          <a:bodyPr lIns="0" tIns="0" rIns="0" bIns="0" rtlCol="0" anchor="t">
            <a:spAutoFit/>
          </a:bodyPr>
          <a:lstStyle/>
          <a:p>
            <a:pPr algn="l">
              <a:lnSpc>
                <a:spcPts val="9220"/>
              </a:lnSpc>
              <a:defRPr/>
            </a:pPr>
            <a:r>
              <a:rPr lang="en-US" sz="7300" b="1">
                <a:solidFill>
                  <a:srgbClr val="261310"/>
                </a:solidFill>
                <a:latin typeface="Grand Cru S Bold"/>
                <a:ea typeface="Grand Cru S Bold"/>
                <a:cs typeface="Grand Cru S Bold"/>
              </a:rPr>
              <a:t>Basics of Random Oracles</a:t>
            </a:r>
            <a:endParaRPr/>
          </a:p>
        </p:txBody>
      </p:sp>
      <p:sp>
        <p:nvSpPr>
          <p:cNvPr id="13" name="TextBox 13"/>
          <p:cNvSpPr txBox="1"/>
          <p:nvPr/>
        </p:nvSpPr>
        <p:spPr bwMode="auto">
          <a:xfrm rot="0">
            <a:off x="1950667" y="5473648"/>
            <a:ext cx="8346469" cy="2977493"/>
          </a:xfrm>
          <a:prstGeom prst="rect">
            <a:avLst/>
          </a:prstGeom>
        </p:spPr>
        <p:txBody>
          <a:bodyPr lIns="0" tIns="0" rIns="0" bIns="0" rtlCol="0" anchor="t">
            <a:spAutoFit/>
          </a:bodyPr>
          <a:lstStyle/>
          <a:p>
            <a:pPr algn="l">
              <a:lnSpc>
                <a:spcPts val="3907"/>
              </a:lnSpc>
              <a:defRPr/>
            </a:pPr>
            <a:r>
              <a:rPr sz="2400" b="0" i="0" u="none">
                <a:solidFill>
                  <a:schemeClr val="tx1">
                    <a:lumMod val="65000"/>
                    <a:lumOff val="35000"/>
                  </a:schemeClr>
                </a:solidFill>
                <a:latin typeface="Times New Roman"/>
                <a:ea typeface="Times New Roman"/>
                <a:cs typeface="Times New Roman"/>
              </a:rPr>
              <a:t>A random oracle is a model used in cryptography, where a function is considered to produce truly random outputs for every unique input. In this model, the oracle behaves like a "black box" that, for any input, returns a random value from a uniform distribution. This concept is used to simplify the analysis of cryptographic protocols and proofs. </a:t>
            </a:r>
            <a:endParaRPr sz="2400">
              <a:solidFill>
                <a:schemeClr val="tx1">
                  <a:lumMod val="65000"/>
                  <a:lumOff val="35000"/>
                </a:schemeClr>
              </a:solidFill>
            </a:endParaRPr>
          </a:p>
        </p:txBody>
      </p:sp>
      <p:pic>
        <p:nvPicPr>
          <p:cNvPr id="1551887697" name=""/>
          <p:cNvPicPr>
            <a:picLocks noChangeAspect="1"/>
          </p:cNvPicPr>
          <p:nvPr/>
        </p:nvPicPr>
        <p:blipFill>
          <a:blip r:embed="rId3"/>
          <a:stretch/>
        </p:blipFill>
        <p:spPr bwMode="auto">
          <a:xfrm flipH="0" flipV="0">
            <a:off x="10873945" y="2574324"/>
            <a:ext cx="6196458" cy="619645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1736456095" name="Group 2"/>
          <p:cNvGrpSpPr/>
          <p:nvPr/>
        </p:nvGrpSpPr>
        <p:grpSpPr bwMode="auto">
          <a:xfrm rot="0">
            <a:off x="390235" y="431337"/>
            <a:ext cx="17404552" cy="9527295"/>
            <a:chOff x="0" y="0"/>
            <a:chExt cx="23206070" cy="12703059"/>
          </a:xfrm>
        </p:grpSpPr>
        <p:grpSp>
          <p:nvGrpSpPr>
            <p:cNvPr id="578638151" name="Group 3"/>
            <p:cNvGrpSpPr/>
            <p:nvPr/>
          </p:nvGrpSpPr>
          <p:grpSpPr bwMode="auto">
            <a:xfrm rot="0">
              <a:off x="0" y="0"/>
              <a:ext cx="23206070" cy="12703059"/>
              <a:chOff x="0" y="0"/>
              <a:chExt cx="4596478" cy="2516123"/>
            </a:xfrm>
          </p:grpSpPr>
          <p:sp>
            <p:nvSpPr>
              <p:cNvPr id="583414128" name="Freeform 4"/>
              <p:cNvSpPr/>
              <p:nvPr/>
            </p:nvSpPr>
            <p:spPr bwMode="auto">
              <a:xfrm rot="0" flipH="0" flipV="0">
                <a:off x="0" y="0"/>
                <a:ext cx="4596478" cy="2516123"/>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1582252233" name="TextBox 5"/>
              <p:cNvSpPr txBox="1"/>
              <p:nvPr/>
            </p:nvSpPr>
            <p:spPr bwMode="auto">
              <a:xfrm>
                <a:off x="38099" y="-9524"/>
                <a:ext cx="4520278" cy="2487548"/>
              </a:xfrm>
              <a:prstGeom prst="rect">
                <a:avLst/>
              </a:prstGeom>
              <a:grpFill/>
            </p:spPr>
            <p:txBody>
              <a:bodyPr lIns="50799" tIns="50799" rIns="50799" bIns="50799" rtlCol="0" anchor="ctr"/>
              <a:lstStyle/>
              <a:p>
                <a:pPr algn="ctr">
                  <a:lnSpc>
                    <a:spcPts val="2658"/>
                  </a:lnSpc>
                  <a:defRPr/>
                </a:pPr>
                <a:endParaRPr/>
              </a:p>
            </p:txBody>
          </p:sp>
        </p:grpSp>
        <p:grpSp>
          <p:nvGrpSpPr>
            <p:cNvPr id="1754818662" name="Group 6"/>
            <p:cNvGrpSpPr/>
            <p:nvPr/>
          </p:nvGrpSpPr>
          <p:grpSpPr bwMode="auto">
            <a:xfrm rot="0">
              <a:off x="170292" y="186016"/>
              <a:ext cx="22836361" cy="12317627"/>
              <a:chOff x="0" y="0"/>
              <a:chExt cx="4596478" cy="2479278"/>
            </a:xfrm>
          </p:grpSpPr>
          <p:sp>
            <p:nvSpPr>
              <p:cNvPr id="72544865" name="Freeform 7"/>
              <p:cNvSpPr/>
              <p:nvPr/>
            </p:nvSpPr>
            <p:spPr bwMode="auto">
              <a:xfrm rot="0" flipH="0" flipV="0">
                <a:off x="0" y="0"/>
                <a:ext cx="4596478" cy="2479278"/>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1921033826" name="TextBox 8"/>
              <p:cNvSpPr txBox="1"/>
              <p:nvPr/>
            </p:nvSpPr>
            <p:spPr bwMode="auto">
              <a:xfrm>
                <a:off x="38099" y="-9524"/>
                <a:ext cx="4520278" cy="2450703"/>
              </a:xfrm>
              <a:prstGeom prst="rect">
                <a:avLst/>
              </a:prstGeom>
              <a:grpFill/>
            </p:spPr>
            <p:txBody>
              <a:bodyPr lIns="50799" tIns="50799" rIns="50799" bIns="50799" rtlCol="0" anchor="ctr"/>
              <a:lstStyle/>
              <a:p>
                <a:pPr algn="ctr">
                  <a:lnSpc>
                    <a:spcPts val="2658"/>
                  </a:lnSpc>
                  <a:defRPr/>
                </a:pPr>
                <a:endParaRPr/>
              </a:p>
            </p:txBody>
          </p:sp>
        </p:grpSp>
      </p:grpSp>
      <p:grpSp>
        <p:nvGrpSpPr>
          <p:cNvPr id="2101601683" name="Group 9"/>
          <p:cNvGrpSpPr>
            <a:grpSpLocks noChangeAspect="1"/>
          </p:cNvGrpSpPr>
          <p:nvPr/>
        </p:nvGrpSpPr>
        <p:grpSpPr bwMode="auto">
          <a:xfrm rot="0" flipH="0" flipV="0">
            <a:off x="11105711" y="1517232"/>
            <a:ext cx="6093409" cy="7252530"/>
            <a:chOff x="0" y="0"/>
            <a:chExt cx="6093409" cy="7252530"/>
          </a:xfrm>
        </p:grpSpPr>
        <p:sp>
          <p:nvSpPr>
            <p:cNvPr id="446821285" name="Freeform 10"/>
            <p:cNvSpPr/>
            <p:nvPr/>
          </p:nvSpPr>
          <p:spPr bwMode="auto">
            <a:xfrm rot="0" flipH="0" flipV="0">
              <a:off x="52799" y="47203"/>
              <a:ext cx="5987806" cy="7158121"/>
            </a:xfrm>
            <a:custGeom>
              <a:avLst/>
              <a:gdLst/>
              <a:ahLst/>
              <a:cxnLst/>
              <a:rect l="l" t="t" r="r" b="b"/>
              <a:pathLst>
                <a:path w="3600450" h="4814570" fill="norm" stroke="1" extrusionOk="0">
                  <a:moveTo>
                    <a:pt x="0" y="0"/>
                  </a:moveTo>
                  <a:lnTo>
                    <a:pt x="3600450" y="0"/>
                  </a:lnTo>
                  <a:lnTo>
                    <a:pt x="3600450" y="4814570"/>
                  </a:lnTo>
                  <a:lnTo>
                    <a:pt x="0" y="4814570"/>
                  </a:lnTo>
                  <a:close/>
                </a:path>
              </a:pathLst>
            </a:custGeom>
            <a:blipFill>
              <a:blip r:embed="rId3"/>
              <a:srcRect l="0" t="5425" r="0" b="5424"/>
              <a:stretch/>
            </a:blipFill>
          </p:spPr>
        </p:sp>
        <p:sp>
          <p:nvSpPr>
            <p:cNvPr id="2095331270" name="Freeform 11"/>
            <p:cNvSpPr/>
            <p:nvPr/>
          </p:nvSpPr>
          <p:spPr bwMode="auto">
            <a:xfrm rot="0" flipH="0" flipV="0">
              <a:off x="0" y="0"/>
              <a:ext cx="6093409" cy="7252530"/>
            </a:xfrm>
            <a:custGeom>
              <a:avLst/>
              <a:gdLst/>
              <a:ahLst/>
              <a:cxnLst/>
              <a:rect l="l" t="t" r="r" b="b"/>
              <a:pathLst>
                <a:path w="3663950" h="4878070" fill="norm" stroke="1" extrusionOk="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195759"/>
            </a:solidFill>
          </p:spPr>
        </p:sp>
      </p:grpSp>
      <p:sp>
        <p:nvSpPr>
          <p:cNvPr id="986480167" name="TextBox 12"/>
          <p:cNvSpPr txBox="1"/>
          <p:nvPr/>
        </p:nvSpPr>
        <p:spPr bwMode="auto">
          <a:xfrm rot="0">
            <a:off x="1770464" y="2066317"/>
            <a:ext cx="8363029" cy="2342239"/>
          </a:xfrm>
          <a:prstGeom prst="rect">
            <a:avLst/>
          </a:prstGeom>
        </p:spPr>
        <p:txBody>
          <a:bodyPr lIns="0" tIns="0" rIns="0" bIns="0" rtlCol="0" anchor="t">
            <a:spAutoFit/>
          </a:bodyPr>
          <a:lstStyle/>
          <a:p>
            <a:pPr algn="l">
              <a:lnSpc>
                <a:spcPts val="9219"/>
              </a:lnSpc>
              <a:defRPr/>
            </a:pPr>
            <a:r>
              <a:rPr lang="en-US" sz="7300" b="1">
                <a:solidFill>
                  <a:srgbClr val="261310"/>
                </a:solidFill>
                <a:latin typeface="Grand Cru S Bold"/>
                <a:ea typeface="Grand Cru S Bold"/>
                <a:cs typeface="Grand Cru S Bold"/>
              </a:rPr>
              <a:t>Boltzmann Entropy</a:t>
            </a:r>
            <a:endParaRPr/>
          </a:p>
        </p:txBody>
      </p:sp>
      <p:sp>
        <p:nvSpPr>
          <p:cNvPr id="1033425257" name="TextBox 13"/>
          <p:cNvSpPr txBox="1"/>
          <p:nvPr/>
        </p:nvSpPr>
        <p:spPr bwMode="auto">
          <a:xfrm rot="0">
            <a:off x="1564518" y="4752837"/>
            <a:ext cx="8349708" cy="2682599"/>
          </a:xfrm>
          <a:prstGeom prst="rect">
            <a:avLst/>
          </a:prstGeom>
        </p:spPr>
        <p:txBody>
          <a:bodyPr lIns="0" tIns="0" rIns="0" bIns="0" rtlCol="0" anchor="t">
            <a:spAutoFit/>
          </a:bodyPr>
          <a:lstStyle/>
          <a:p>
            <a:pPr>
              <a:defRPr/>
            </a:pPr>
            <a:r>
              <a:rPr sz="2200" b="0" i="0" u="none">
                <a:solidFill>
                  <a:schemeClr val="tx1">
                    <a:lumMod val="75000"/>
                    <a:lumOff val="25000"/>
                  </a:schemeClr>
                </a:solidFill>
                <a:latin typeface="Times New Roman"/>
                <a:ea typeface="Times New Roman"/>
                <a:cs typeface="Times New Roman"/>
              </a:rPr>
              <a:t>In the disorder case of Boltzmann entropy, when two subsystems, each with the same number of energy quanta, are combined, the total number of possible configurations (microstates) increases. This leads to higher entropy, representing greater disorder. The energy quanta continue to move between the subsystems, allowing the system to explore more possible states, which maximizes entropy. Essentially, the system reaches maximum disorder when the energy is distributed in the most random way across both subsystems.</a:t>
            </a:r>
            <a:endParaRPr sz="2200">
              <a:solidFill>
                <a:schemeClr val="tx1">
                  <a:lumMod val="75000"/>
                  <a:lumOff val="25000"/>
                </a:schemeClr>
              </a:solidFill>
            </a:endParaRPr>
          </a:p>
        </p:txBody>
      </p:sp>
      <p:pic>
        <p:nvPicPr>
          <p:cNvPr id="1366768426" name=""/>
          <p:cNvPicPr>
            <a:picLocks noChangeAspect="1"/>
          </p:cNvPicPr>
          <p:nvPr/>
        </p:nvPicPr>
        <p:blipFill>
          <a:blip r:embed="rId4"/>
          <a:stretch/>
        </p:blipFill>
        <p:spPr bwMode="auto">
          <a:xfrm flipH="0" flipV="0">
            <a:off x="11228552" y="1638298"/>
            <a:ext cx="5867596" cy="7010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2410262" y="2063248"/>
            <a:ext cx="9452351" cy="1517651"/>
          </a:xfrm>
          <a:prstGeom prst="rect">
            <a:avLst/>
          </a:prstGeom>
        </p:spPr>
        <p:txBody>
          <a:bodyPr lIns="0" tIns="0" rIns="0" bIns="0" rtlCol="0" anchor="t">
            <a:spAutoFit/>
          </a:bodyPr>
          <a:lstStyle/>
          <a:p>
            <a:pPr algn="l">
              <a:lnSpc>
                <a:spcPts val="12319"/>
              </a:lnSpc>
              <a:spcBef>
                <a:spcPts val="0"/>
              </a:spcBef>
              <a:defRPr/>
            </a:pPr>
            <a:r>
              <a:rPr lang="en-US" sz="8800" b="1">
                <a:solidFill>
                  <a:srgbClr val="261310"/>
                </a:solidFill>
                <a:latin typeface="Grand Cru S Bold"/>
                <a:ea typeface="Grand Cru S Bold"/>
                <a:cs typeface="Grand Cru S Bold"/>
              </a:rPr>
              <a:t>Methodology</a:t>
            </a:r>
            <a:endParaRPr/>
          </a:p>
        </p:txBody>
      </p:sp>
      <p:grpSp>
        <p:nvGrpSpPr>
          <p:cNvPr id="10" name="Group 10"/>
          <p:cNvGrpSpPr/>
          <p:nvPr/>
        </p:nvGrpSpPr>
        <p:grpSpPr bwMode="auto">
          <a:xfrm rot="0">
            <a:off x="2410262" y="4161925"/>
            <a:ext cx="1028340" cy="1028340"/>
            <a:chOff x="0" y="0"/>
            <a:chExt cx="1371120" cy="1371120"/>
          </a:xfrm>
        </p:grpSpPr>
        <p:grpSp>
          <p:nvGrpSpPr>
            <p:cNvPr id="11" name="Group 11"/>
            <p:cNvGrpSpPr/>
            <p:nvPr/>
          </p:nvGrpSpPr>
          <p:grpSpPr bwMode="auto">
            <a:xfrm rot="0">
              <a:off x="0" y="0"/>
              <a:ext cx="1371120" cy="1371120"/>
              <a:chOff x="0" y="0"/>
              <a:chExt cx="812800" cy="812800"/>
            </a:xfrm>
          </p:grpSpPr>
          <p:sp>
            <p:nvSpPr>
              <p:cNvPr id="12" name="Freeform 12"/>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13" name="TextBox 13"/>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14" name="TextBox 14"/>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01</a:t>
              </a:r>
              <a:endParaRPr/>
            </a:p>
          </p:txBody>
        </p:sp>
      </p:grpSp>
      <p:grpSp>
        <p:nvGrpSpPr>
          <p:cNvPr id="15" name="Group 15"/>
          <p:cNvGrpSpPr/>
          <p:nvPr/>
        </p:nvGrpSpPr>
        <p:grpSpPr bwMode="auto">
          <a:xfrm rot="0">
            <a:off x="2410262" y="5771317"/>
            <a:ext cx="1028340" cy="1028340"/>
            <a:chOff x="0" y="0"/>
            <a:chExt cx="1371120" cy="1371120"/>
          </a:xfrm>
        </p:grpSpPr>
        <p:grpSp>
          <p:nvGrpSpPr>
            <p:cNvPr id="16" name="Group 16"/>
            <p:cNvGrpSpPr/>
            <p:nvPr/>
          </p:nvGrpSpPr>
          <p:grpSpPr bwMode="auto">
            <a:xfrm rot="0">
              <a:off x="0" y="0"/>
              <a:ext cx="1371120" cy="1371120"/>
              <a:chOff x="0" y="0"/>
              <a:chExt cx="812800" cy="812800"/>
            </a:xfrm>
          </p:grpSpPr>
          <p:sp>
            <p:nvSpPr>
              <p:cNvPr id="17" name="Freeform 17"/>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18" name="TextBox 18"/>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19" name="TextBox 19"/>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02</a:t>
              </a:r>
              <a:endParaRPr/>
            </a:p>
          </p:txBody>
        </p:sp>
      </p:grpSp>
      <p:sp>
        <p:nvSpPr>
          <p:cNvPr id="20" name="TextBox 20"/>
          <p:cNvSpPr txBox="1"/>
          <p:nvPr/>
        </p:nvSpPr>
        <p:spPr bwMode="auto">
          <a:xfrm rot="0">
            <a:off x="3731326" y="4284754"/>
            <a:ext cx="7614463" cy="462639"/>
          </a:xfrm>
          <a:prstGeom prst="rect">
            <a:avLst/>
          </a:prstGeom>
        </p:spPr>
        <p:txBody>
          <a:bodyPr lIns="0" tIns="0" rIns="0" bIns="0" rtlCol="0" anchor="t">
            <a:spAutoFit/>
          </a:bodyPr>
          <a:lstStyle/>
          <a:p>
            <a:pPr algn="l">
              <a:lnSpc>
                <a:spcPts val="3640"/>
              </a:lnSpc>
              <a:defRPr/>
            </a:pPr>
            <a:r>
              <a:rPr sz="2200" b="1" i="0" u="none">
                <a:solidFill>
                  <a:srgbClr val="000000"/>
                </a:solidFill>
                <a:latin typeface="Times New Roman"/>
                <a:ea typeface="Times New Roman"/>
                <a:cs typeface="Times New Roman"/>
              </a:rPr>
              <a:t>Preprocessing:</a:t>
            </a:r>
            <a:r>
              <a:rPr sz="2200" b="0" i="0" u="none">
                <a:solidFill>
                  <a:srgbClr val="000000"/>
                </a:solidFill>
                <a:latin typeface="Times New Roman"/>
                <a:ea typeface="Times New Roman"/>
                <a:cs typeface="Times New Roman"/>
              </a:rPr>
              <a:t> Input padding and division into blocks.</a:t>
            </a:r>
            <a:endParaRPr sz="2200"/>
          </a:p>
        </p:txBody>
      </p:sp>
      <p:sp>
        <p:nvSpPr>
          <p:cNvPr id="21" name="TextBox 21"/>
          <p:cNvSpPr txBox="1"/>
          <p:nvPr/>
        </p:nvSpPr>
        <p:spPr bwMode="auto">
          <a:xfrm rot="0">
            <a:off x="3731326" y="5894146"/>
            <a:ext cx="7749567" cy="335639"/>
          </a:xfrm>
          <a:prstGeom prst="rect">
            <a:avLst/>
          </a:prstGeom>
        </p:spPr>
        <p:txBody>
          <a:bodyPr lIns="0" tIns="0" rIns="0" bIns="0" rtlCol="0" anchor="t">
            <a:spAutoFit/>
          </a:bodyPr>
          <a:lstStyle/>
          <a:p>
            <a:pPr>
              <a:defRPr/>
            </a:pPr>
            <a:r>
              <a:rPr sz="2200" b="1" i="0" u="none">
                <a:solidFill>
                  <a:srgbClr val="000000"/>
                </a:solidFill>
                <a:latin typeface="Times New Roman"/>
                <a:ea typeface="Times New Roman"/>
                <a:cs typeface="Times New Roman"/>
              </a:rPr>
              <a:t>Random Oracles:</a:t>
            </a:r>
            <a:r>
              <a:rPr sz="2200" b="0" i="0" u="none">
                <a:solidFill>
                  <a:srgbClr val="000000"/>
                </a:solidFill>
                <a:latin typeface="Times New Roman"/>
                <a:ea typeface="Times New Roman"/>
                <a:cs typeface="Times New Roman"/>
              </a:rPr>
              <a:t> Interaction and entropy generation.</a:t>
            </a:r>
            <a:endParaRPr sz="2200"/>
          </a:p>
        </p:txBody>
      </p:sp>
      <p:grpSp>
        <p:nvGrpSpPr>
          <p:cNvPr id="22" name="Group 22"/>
          <p:cNvGrpSpPr/>
          <p:nvPr/>
        </p:nvGrpSpPr>
        <p:grpSpPr bwMode="auto">
          <a:xfrm rot="0">
            <a:off x="2410262" y="7380682"/>
            <a:ext cx="1028340" cy="1028340"/>
            <a:chOff x="0" y="0"/>
            <a:chExt cx="1371120" cy="1371120"/>
          </a:xfrm>
        </p:grpSpPr>
        <p:grpSp>
          <p:nvGrpSpPr>
            <p:cNvPr id="23" name="Group 23"/>
            <p:cNvGrpSpPr/>
            <p:nvPr/>
          </p:nvGrpSpPr>
          <p:grpSpPr bwMode="auto">
            <a:xfrm rot="0">
              <a:off x="0" y="0"/>
              <a:ext cx="1371120" cy="1371120"/>
              <a:chOff x="0" y="0"/>
              <a:chExt cx="812800" cy="812800"/>
            </a:xfrm>
          </p:grpSpPr>
          <p:sp>
            <p:nvSpPr>
              <p:cNvPr id="24" name="Freeform 24"/>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25" name="TextBox 25"/>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26" name="TextBox 26"/>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03</a:t>
              </a:r>
              <a:endParaRPr/>
            </a:p>
          </p:txBody>
        </p:sp>
      </p:grpSp>
      <p:sp>
        <p:nvSpPr>
          <p:cNvPr id="27" name="TextBox 27"/>
          <p:cNvSpPr txBox="1"/>
          <p:nvPr/>
        </p:nvSpPr>
        <p:spPr bwMode="auto">
          <a:xfrm rot="0">
            <a:off x="3731326" y="7503511"/>
            <a:ext cx="7749567" cy="335639"/>
          </a:xfrm>
          <a:prstGeom prst="rect">
            <a:avLst/>
          </a:prstGeom>
        </p:spPr>
        <p:txBody>
          <a:bodyPr lIns="0" tIns="0" rIns="0" bIns="0" rtlCol="0" anchor="t">
            <a:spAutoFit/>
          </a:bodyPr>
          <a:lstStyle/>
          <a:p>
            <a:pPr>
              <a:defRPr/>
            </a:pPr>
            <a:r>
              <a:rPr sz="2200" b="1" i="0" u="none">
                <a:solidFill>
                  <a:srgbClr val="000000"/>
                </a:solidFill>
                <a:latin typeface="Times New Roman"/>
                <a:ea typeface="Times New Roman"/>
                <a:cs typeface="Times New Roman"/>
              </a:rPr>
              <a:t>Dynamic Microstates:</a:t>
            </a:r>
            <a:r>
              <a:rPr sz="2200" b="0" i="0" u="none">
                <a:solidFill>
                  <a:srgbClr val="000000"/>
                </a:solidFill>
                <a:latin typeface="Times New Roman"/>
                <a:ea typeface="Times New Roman"/>
                <a:cs typeface="Times New Roman"/>
              </a:rPr>
              <a:t> Entropy evolution with Boltzmann formula.</a:t>
            </a:r>
            <a:endParaRPr sz="2200"/>
          </a:p>
        </p:txBody>
      </p:sp>
      <p:pic>
        <p:nvPicPr>
          <p:cNvPr id="1634863611" name=""/>
          <p:cNvPicPr>
            <a:picLocks noChangeAspect="1"/>
          </p:cNvPicPr>
          <p:nvPr/>
        </p:nvPicPr>
        <p:blipFill>
          <a:blip r:embed="rId3"/>
          <a:stretch/>
        </p:blipFill>
        <p:spPr bwMode="auto">
          <a:xfrm>
            <a:off x="12474403" y="2409007"/>
            <a:ext cx="3686175" cy="4676774"/>
          </a:xfrm>
          <a:prstGeom prst="rect">
            <a:avLst/>
          </a:prstGeom>
        </p:spPr>
      </p:pic>
      <p:pic>
        <p:nvPicPr>
          <p:cNvPr id="2041235167" name=""/>
          <p:cNvPicPr>
            <a:picLocks noChangeAspect="1"/>
          </p:cNvPicPr>
          <p:nvPr/>
        </p:nvPicPr>
        <p:blipFill>
          <a:blip r:embed="rId4"/>
          <a:stretch/>
        </p:blipFill>
        <p:spPr bwMode="auto">
          <a:xfrm flipH="0" flipV="0">
            <a:off x="11587094" y="1364391"/>
            <a:ext cx="5825634" cy="7800202"/>
          </a:xfrm>
          <a:prstGeom prst="rect">
            <a:avLst/>
          </a:prstGeom>
        </p:spPr>
      </p:pic>
      <p:pic>
        <p:nvPicPr>
          <p:cNvPr id="1711410248" name=""/>
          <p:cNvPicPr>
            <a:picLocks noChangeAspect="1"/>
          </p:cNvPicPr>
          <p:nvPr/>
        </p:nvPicPr>
        <p:blipFill>
          <a:blip r:embed="rId3"/>
          <a:stretch/>
        </p:blipFill>
        <p:spPr bwMode="auto">
          <a:xfrm flipH="0" flipV="0">
            <a:off x="11664324" y="1415878"/>
            <a:ext cx="5663193" cy="764574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81818"/>
        </a:solidFill>
      </p:bgPr>
    </p:bg>
    <p:spTree>
      <p:nvGrpSpPr>
        <p:cNvPr id="1" name=""/>
        <p:cNvGrpSpPr/>
        <p:nvPr/>
      </p:nvGrpSpPr>
      <p:grpSpPr bwMode="auto">
        <a:xfrm>
          <a:off x="0" y="0"/>
          <a:ext cx="0" cy="0"/>
          <a:chOff x="0" y="0"/>
          <a:chExt cx="0" cy="0"/>
        </a:xfrm>
      </p:grpSpPr>
      <p:pic>
        <p:nvPicPr>
          <p:cNvPr id="1831817136" name=""/>
          <p:cNvPicPr>
            <a:picLocks noChangeAspect="1"/>
          </p:cNvPicPr>
          <p:nvPr/>
        </p:nvPicPr>
        <p:blipFill>
          <a:blip r:embed="rId3"/>
          <a:stretch/>
        </p:blipFill>
        <p:spPr bwMode="auto">
          <a:xfrm flipH="0" flipV="0">
            <a:off x="175483" y="417040"/>
            <a:ext cx="17143169" cy="6023918"/>
          </a:xfrm>
          <a:prstGeom prst="rect">
            <a:avLst/>
          </a:prstGeom>
        </p:spPr>
      </p:pic>
      <p:pic>
        <p:nvPicPr>
          <p:cNvPr id="986857785" name=""/>
          <p:cNvPicPr>
            <a:picLocks noChangeAspect="1"/>
          </p:cNvPicPr>
          <p:nvPr/>
        </p:nvPicPr>
        <p:blipFill>
          <a:blip r:embed="rId4"/>
          <a:stretch/>
        </p:blipFill>
        <p:spPr bwMode="auto">
          <a:xfrm flipH="0" flipV="0">
            <a:off x="363040" y="6899188"/>
            <a:ext cx="15806350" cy="2661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81818"/>
        </a:solidFill>
      </p:bgPr>
    </p:bg>
    <p:spTree>
      <p:nvGrpSpPr>
        <p:cNvPr id="1" name=""/>
        <p:cNvGrpSpPr/>
        <p:nvPr/>
      </p:nvGrpSpPr>
      <p:grpSpPr bwMode="auto">
        <a:xfrm>
          <a:off x="0" y="0"/>
          <a:ext cx="0" cy="0"/>
          <a:chOff x="0" y="0"/>
          <a:chExt cx="0" cy="0"/>
        </a:xfrm>
      </p:grpSpPr>
      <p:pic>
        <p:nvPicPr>
          <p:cNvPr id="93688307" name=""/>
          <p:cNvPicPr>
            <a:picLocks noChangeAspect="1"/>
          </p:cNvPicPr>
          <p:nvPr/>
        </p:nvPicPr>
        <p:blipFill>
          <a:blip r:embed="rId3"/>
          <a:stretch/>
        </p:blipFill>
        <p:spPr bwMode="auto">
          <a:xfrm flipH="0" flipV="0">
            <a:off x="98853" y="4042461"/>
            <a:ext cx="13652091" cy="5714227"/>
          </a:xfrm>
          <a:prstGeom prst="rect">
            <a:avLst/>
          </a:prstGeom>
        </p:spPr>
      </p:pic>
      <p:pic>
        <p:nvPicPr>
          <p:cNvPr id="258366952" name=""/>
          <p:cNvPicPr>
            <a:picLocks noChangeAspect="1"/>
          </p:cNvPicPr>
          <p:nvPr/>
        </p:nvPicPr>
        <p:blipFill>
          <a:blip r:embed="rId4"/>
          <a:stretch/>
        </p:blipFill>
        <p:spPr bwMode="auto">
          <a:xfrm flipH="0" flipV="0">
            <a:off x="-57409" y="77229"/>
            <a:ext cx="13755449" cy="596136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373690" y="379851"/>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2120774" y="1752226"/>
            <a:ext cx="6338786" cy="2310997"/>
          </a:xfrm>
          <a:prstGeom prst="rect">
            <a:avLst/>
          </a:prstGeom>
        </p:spPr>
        <p:txBody>
          <a:bodyPr lIns="0" tIns="0" rIns="0" bIns="0" rtlCol="0" anchor="t">
            <a:spAutoFit/>
          </a:bodyPr>
          <a:lstStyle/>
          <a:p>
            <a:pPr algn="l">
              <a:lnSpc>
                <a:spcPts val="9097"/>
              </a:lnSpc>
              <a:defRPr/>
            </a:pPr>
            <a:r>
              <a:rPr lang="en-US" sz="7600" b="1">
                <a:solidFill>
                  <a:srgbClr val="261310"/>
                </a:solidFill>
                <a:latin typeface="Grand Cru S Bold"/>
                <a:ea typeface="Grand Cru S Bold"/>
                <a:cs typeface="Grand Cru S Bold"/>
              </a:rPr>
              <a:t>Experimental</a:t>
            </a:r>
            <a:endParaRPr/>
          </a:p>
          <a:p>
            <a:pPr algn="l">
              <a:lnSpc>
                <a:spcPts val="9097"/>
              </a:lnSpc>
              <a:defRPr/>
            </a:pPr>
            <a:r>
              <a:rPr lang="en-US" sz="7600" b="1">
                <a:solidFill>
                  <a:srgbClr val="261310"/>
                </a:solidFill>
                <a:latin typeface="Grand Cru S Bold"/>
                <a:ea typeface="Grand Cru S Bold"/>
                <a:cs typeface="Grand Cru S Bold"/>
              </a:rPr>
              <a:t>Evolution</a:t>
            </a:r>
            <a:endParaRPr/>
          </a:p>
        </p:txBody>
      </p:sp>
      <p:sp>
        <p:nvSpPr>
          <p:cNvPr id="11" name="TextBox 11"/>
          <p:cNvSpPr txBox="1"/>
          <p:nvPr/>
        </p:nvSpPr>
        <p:spPr bwMode="auto">
          <a:xfrm rot="0">
            <a:off x="8957147" y="3858075"/>
            <a:ext cx="7738541" cy="2133959"/>
          </a:xfrm>
          <a:prstGeom prst="rect">
            <a:avLst/>
          </a:prstGeom>
        </p:spPr>
        <p:txBody>
          <a:bodyPr lIns="0" tIns="0" rIns="0" bIns="0" rtlCol="0" anchor="t">
            <a:spAutoFit/>
          </a:bodyPr>
          <a:lstStyle/>
          <a:p>
            <a:pPr>
              <a:defRPr/>
            </a:pPr>
            <a:r>
              <a:rPr sz="2800" b="1" i="0" u="none">
                <a:solidFill>
                  <a:srgbClr val="000000"/>
                </a:solidFill>
                <a:latin typeface="Times New Roman"/>
                <a:ea typeface="Times New Roman"/>
                <a:cs typeface="Times New Roman"/>
              </a:rPr>
              <a:t>Grover's Algorithm Simulation:</a:t>
            </a:r>
            <a:r>
              <a:rPr sz="2800" b="0" i="0" u="none">
                <a:solidFill>
                  <a:srgbClr val="000000"/>
                </a:solidFill>
                <a:latin typeface="Times New Roman"/>
                <a:ea typeface="Times New Roman"/>
                <a:cs typeface="Times New Roman"/>
              </a:rPr>
              <a:t> Testing quantum resilience.</a:t>
            </a:r>
            <a:endParaRPr sz="2800" b="0" i="0" u="none">
              <a:solidFill>
                <a:srgbClr val="000000"/>
              </a:solidFill>
              <a:latin typeface="Times New Roman"/>
              <a:ea typeface="Times New Roman"/>
              <a:cs typeface="Times New Roman"/>
            </a:endParaRPr>
          </a:p>
          <a:p>
            <a:pPr>
              <a:defRPr/>
            </a:pPr>
            <a:endParaRPr sz="2800"/>
          </a:p>
          <a:p>
            <a:pPr>
              <a:defRPr/>
            </a:pPr>
            <a:r>
              <a:rPr sz="2800" b="1" i="0" u="none">
                <a:solidFill>
                  <a:srgbClr val="000000"/>
                </a:solidFill>
                <a:latin typeface="Times New Roman"/>
                <a:ea typeface="Times New Roman"/>
                <a:cs typeface="Times New Roman"/>
              </a:rPr>
              <a:t>Statistical Tests:</a:t>
            </a:r>
            <a:r>
              <a:rPr sz="2800" b="0" i="0" u="none">
                <a:solidFill>
                  <a:srgbClr val="000000"/>
                </a:solidFill>
                <a:latin typeface="Times New Roman"/>
                <a:ea typeface="Times New Roman"/>
                <a:cs typeface="Times New Roman"/>
              </a:rPr>
              <a:t> Dieharder results proving randomness.</a:t>
            </a:r>
            <a:endParaRPr sz="2800"/>
          </a:p>
        </p:txBody>
      </p:sp>
      <p:pic>
        <p:nvPicPr>
          <p:cNvPr id="1529508555" name=""/>
          <p:cNvPicPr>
            <a:picLocks noChangeAspect="1"/>
          </p:cNvPicPr>
          <p:nvPr/>
        </p:nvPicPr>
        <p:blipFill>
          <a:blip r:embed="rId3"/>
          <a:stretch/>
        </p:blipFill>
        <p:spPr bwMode="auto">
          <a:xfrm>
            <a:off x="1622725" y="4400421"/>
            <a:ext cx="6753224" cy="5038724"/>
          </a:xfrm>
          <a:prstGeom prst="rect">
            <a:avLst/>
          </a:prstGeom>
        </p:spPr>
      </p:pic>
      <p:sp>
        <p:nvSpPr>
          <p:cNvPr id="2044965240" name=""/>
          <p:cNvSpPr/>
          <p:nvPr/>
        </p:nvSpPr>
        <p:spPr bwMode="auto">
          <a:xfrm flipH="0" flipV="0">
            <a:off x="8086013" y="3938716"/>
            <a:ext cx="695067" cy="695067"/>
          </a:xfrm>
          <a:prstGeom prst="flowChartConnector">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sp>
      <p:sp>
        <p:nvSpPr>
          <p:cNvPr id="270515045" name=""/>
          <p:cNvSpPr txBox="1"/>
          <p:nvPr/>
        </p:nvSpPr>
        <p:spPr bwMode="auto">
          <a:xfrm flipH="0" flipV="0">
            <a:off x="8178886" y="3938716"/>
            <a:ext cx="1349468"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solidFill>
                  <a:schemeClr val="bg1"/>
                </a:solidFill>
              </a:rPr>
              <a:t>1</a:t>
            </a:r>
            <a:endParaRPr sz="3600" b="1">
              <a:solidFill>
                <a:schemeClr val="bg1"/>
              </a:solidFill>
            </a:endParaRPr>
          </a:p>
        </p:txBody>
      </p:sp>
      <p:sp>
        <p:nvSpPr>
          <p:cNvPr id="970990496" name=""/>
          <p:cNvSpPr/>
          <p:nvPr/>
        </p:nvSpPr>
        <p:spPr bwMode="auto">
          <a:xfrm flipH="0" flipV="0">
            <a:off x="8034526" y="5200134"/>
            <a:ext cx="672996" cy="663145"/>
          </a:xfrm>
          <a:prstGeom prst="flowChartConnector">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sp>
      <p:sp>
        <p:nvSpPr>
          <p:cNvPr id="1829960073" name=""/>
          <p:cNvSpPr txBox="1"/>
          <p:nvPr/>
        </p:nvSpPr>
        <p:spPr bwMode="auto">
          <a:xfrm flipH="0" flipV="0">
            <a:off x="8178886" y="5200134"/>
            <a:ext cx="105763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solidFill>
                  <a:schemeClr val="bg1"/>
                </a:solidFill>
              </a:rPr>
              <a:t>2</a:t>
            </a:r>
            <a:endParaRPr sz="3600" b="1">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1415433348" name="Group 2"/>
          <p:cNvGrpSpPr/>
          <p:nvPr/>
        </p:nvGrpSpPr>
        <p:grpSpPr bwMode="auto">
          <a:xfrm rot="0">
            <a:off x="360261" y="415343"/>
            <a:ext cx="17404552" cy="9527295"/>
            <a:chOff x="0" y="0"/>
            <a:chExt cx="23206070" cy="12703060"/>
          </a:xfrm>
        </p:grpSpPr>
        <p:grpSp>
          <p:nvGrpSpPr>
            <p:cNvPr id="1585429193" name="Group 3"/>
            <p:cNvGrpSpPr/>
            <p:nvPr/>
          </p:nvGrpSpPr>
          <p:grpSpPr bwMode="auto">
            <a:xfrm rot="0">
              <a:off x="0" y="0"/>
              <a:ext cx="23206070" cy="12703060"/>
              <a:chOff x="0" y="0"/>
              <a:chExt cx="4596478" cy="2516123"/>
            </a:xfrm>
          </p:grpSpPr>
          <p:sp>
            <p:nvSpPr>
              <p:cNvPr id="955537846" name="Freeform 4"/>
              <p:cNvSpPr/>
              <p:nvPr/>
            </p:nvSpPr>
            <p:spPr bwMode="auto">
              <a:xfrm rot="0" flipH="0" flipV="0">
                <a:off x="0" y="0"/>
                <a:ext cx="4596478" cy="2516123"/>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1295357806" name="TextBox 5"/>
              <p:cNvSpPr txBox="1"/>
              <p:nvPr/>
            </p:nvSpPr>
            <p:spPr bwMode="auto">
              <a:xfrm>
                <a:off x="38099" y="-9524"/>
                <a:ext cx="4520278" cy="2487548"/>
              </a:xfrm>
              <a:prstGeom prst="rect">
                <a:avLst/>
              </a:prstGeom>
              <a:grpFill/>
            </p:spPr>
            <p:txBody>
              <a:bodyPr lIns="50799" tIns="50799" rIns="50799" bIns="50799" rtlCol="0" anchor="ctr"/>
              <a:lstStyle/>
              <a:p>
                <a:pPr algn="ctr">
                  <a:lnSpc>
                    <a:spcPts val="2658"/>
                  </a:lnSpc>
                  <a:defRPr/>
                </a:pPr>
                <a:endParaRPr/>
              </a:p>
            </p:txBody>
          </p:sp>
        </p:grpSp>
        <p:grpSp>
          <p:nvGrpSpPr>
            <p:cNvPr id="361982761" name="Group 6"/>
            <p:cNvGrpSpPr/>
            <p:nvPr/>
          </p:nvGrpSpPr>
          <p:grpSpPr bwMode="auto">
            <a:xfrm rot="0">
              <a:off x="170292" y="186016"/>
              <a:ext cx="22836361" cy="12317627"/>
              <a:chOff x="0" y="0"/>
              <a:chExt cx="4596478" cy="2479278"/>
            </a:xfrm>
          </p:grpSpPr>
          <p:sp>
            <p:nvSpPr>
              <p:cNvPr id="1430888331" name="Freeform 7"/>
              <p:cNvSpPr/>
              <p:nvPr/>
            </p:nvSpPr>
            <p:spPr bwMode="auto">
              <a:xfrm rot="0" flipH="0" flipV="0">
                <a:off x="0" y="0"/>
                <a:ext cx="4596478" cy="2479278"/>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1283478967" name="TextBox 8"/>
              <p:cNvSpPr txBox="1"/>
              <p:nvPr/>
            </p:nvSpPr>
            <p:spPr bwMode="auto">
              <a:xfrm>
                <a:off x="38099" y="-9524"/>
                <a:ext cx="4520278" cy="2450703"/>
              </a:xfrm>
              <a:prstGeom prst="rect">
                <a:avLst/>
              </a:prstGeom>
              <a:grpFill/>
            </p:spPr>
            <p:txBody>
              <a:bodyPr lIns="50799" tIns="50799" rIns="50799" bIns="50799" rtlCol="0" anchor="ctr"/>
              <a:lstStyle/>
              <a:p>
                <a:pPr algn="ctr">
                  <a:lnSpc>
                    <a:spcPts val="2658"/>
                  </a:lnSpc>
                  <a:defRPr/>
                </a:pPr>
                <a:endParaRPr/>
              </a:p>
            </p:txBody>
          </p:sp>
        </p:grpSp>
      </p:grpSp>
      <p:sp>
        <p:nvSpPr>
          <p:cNvPr id="1357674548" name="TextBox 9"/>
          <p:cNvSpPr txBox="1"/>
          <p:nvPr/>
        </p:nvSpPr>
        <p:spPr bwMode="auto">
          <a:xfrm rot="0">
            <a:off x="2090800" y="1752226"/>
            <a:ext cx="6346706" cy="2194919"/>
          </a:xfrm>
          <a:prstGeom prst="rect">
            <a:avLst/>
          </a:prstGeom>
        </p:spPr>
        <p:txBody>
          <a:bodyPr lIns="0" tIns="0" rIns="0" bIns="0" rtlCol="0" anchor="t">
            <a:spAutoFit/>
          </a:bodyPr>
          <a:lstStyle/>
          <a:p>
            <a:pPr>
              <a:defRPr/>
            </a:pPr>
            <a:r>
              <a:rPr sz="7200" b="1"/>
              <a:t>Grover’s A</a:t>
            </a:r>
            <a:r>
              <a:rPr sz="7200" b="1"/>
              <a:t>lgorithm</a:t>
            </a:r>
            <a:endParaRPr sz="7200" b="1"/>
          </a:p>
        </p:txBody>
      </p:sp>
      <p:sp>
        <p:nvSpPr>
          <p:cNvPr id="641203348" name="TextBox 11"/>
          <p:cNvSpPr txBox="1"/>
          <p:nvPr/>
        </p:nvSpPr>
        <p:spPr bwMode="auto">
          <a:xfrm rot="0" flipH="0" flipV="0">
            <a:off x="1650202" y="4347197"/>
            <a:ext cx="15071046" cy="3787708"/>
          </a:xfrm>
          <a:prstGeom prst="rect">
            <a:avLst/>
          </a:prstGeom>
        </p:spPr>
        <p:txBody>
          <a:bodyPr lIns="0" tIns="0" rIns="0" bIns="0" rtlCol="0" anchor="t">
            <a:spAutoFit/>
          </a:bodyPr>
          <a:lstStyle/>
          <a:p>
            <a:pPr>
              <a:defRPr/>
            </a:pPr>
            <a:r>
              <a:rPr sz="2800" b="0" i="0" u="none">
                <a:solidFill>
                  <a:srgbClr val="000000"/>
                </a:solidFill>
                <a:latin typeface="Times New Roman"/>
                <a:ea typeface="Times New Roman"/>
                <a:cs typeface="Times New Roman"/>
              </a:rPr>
              <a:t>Grover's algorithm is a quantum search algorithm that provides a quadratic speedup for searching an unsorted database or solving certain mathematical problems, such as finding the preimage of a hash function.</a:t>
            </a:r>
            <a:endParaRPr sz="2800"/>
          </a:p>
          <a:p>
            <a:pPr>
              <a:defRPr/>
            </a:pPr>
            <a:endParaRPr sz="2200"/>
          </a:p>
          <a:p>
            <a:pPr>
              <a:defRPr/>
            </a:pPr>
            <a:r>
              <a:rPr sz="2800" b="0" i="0" u="none">
                <a:solidFill>
                  <a:srgbClr val="000000"/>
                </a:solidFill>
                <a:latin typeface="Times New Roman"/>
                <a:ea typeface="Times New Roman"/>
                <a:cs typeface="Times New Roman"/>
              </a:rPr>
              <a:t>It searches for a specific item in an unsorted list of </a:t>
            </a:r>
            <a:r>
              <a:rPr sz="2800" b="0" i="0" u="none">
                <a:solidFill>
                  <a:srgbClr val="000000"/>
                </a:solidFill>
                <a:latin typeface="Liberation Sans"/>
                <a:ea typeface="Liberation Sans"/>
                <a:cs typeface="Liberation Sans"/>
              </a:rPr>
              <a:t>N</a:t>
            </a:r>
            <a:r>
              <a:rPr sz="2800" b="0" i="0" u="none">
                <a:solidFill>
                  <a:srgbClr val="000000"/>
                </a:solidFill>
                <a:latin typeface="Times New Roman"/>
                <a:ea typeface="Times New Roman"/>
                <a:cs typeface="Times New Roman"/>
              </a:rPr>
              <a:t> items with a quantum advantage. Classical algorithms require </a:t>
            </a:r>
            <a:r>
              <a:rPr sz="2800" b="0" i="0" u="none">
                <a:solidFill>
                  <a:srgbClr val="000000"/>
                </a:solidFill>
                <a:latin typeface="Liberation Sans"/>
                <a:ea typeface="Liberation Sans"/>
                <a:cs typeface="Liberation Sans"/>
              </a:rPr>
              <a:t>O</a:t>
            </a:r>
            <a:r>
              <a:rPr sz="2800" b="0" i="0" u="none">
                <a:solidFill>
                  <a:srgbClr val="000000"/>
                </a:solidFill>
                <a:latin typeface="Liberation Sans"/>
                <a:ea typeface="Liberation Sans"/>
                <a:cs typeface="Liberation Sans"/>
              </a:rPr>
              <a:t>(</a:t>
            </a:r>
            <a:r>
              <a:rPr sz="2800" b="0" i="0" u="none">
                <a:solidFill>
                  <a:srgbClr val="000000"/>
                </a:solidFill>
                <a:latin typeface="Liberation Sans"/>
                <a:ea typeface="Liberation Sans"/>
                <a:cs typeface="Liberation Sans"/>
              </a:rPr>
              <a:t>N</a:t>
            </a:r>
            <a:r>
              <a:rPr sz="2800" b="0" i="0" u="none">
                <a:solidFill>
                  <a:srgbClr val="000000"/>
                </a:solidFill>
                <a:latin typeface="Liberation Sans"/>
                <a:ea typeface="Liberation Sans"/>
                <a:cs typeface="Liberation Sans"/>
              </a:rPr>
              <a:t>)</a:t>
            </a:r>
            <a:r>
              <a:rPr sz="2800" b="0" i="0" u="none">
                <a:solidFill>
                  <a:srgbClr val="000000"/>
                </a:solidFill>
                <a:latin typeface="Times New Roman"/>
                <a:ea typeface="Times New Roman"/>
                <a:cs typeface="Times New Roman"/>
              </a:rPr>
              <a:t> queries, while Grover's algorithm requires only </a:t>
            </a:r>
            <a:r>
              <a:rPr sz="2800" b="0" i="0" u="none">
                <a:solidFill>
                  <a:srgbClr val="000000"/>
                </a:solidFill>
                <a:latin typeface="Liberation Sans"/>
                <a:ea typeface="Liberation Sans"/>
                <a:cs typeface="Liberation Sans"/>
              </a:rPr>
              <a:t>O</a:t>
            </a:r>
            <a:r>
              <a:rPr sz="2800" b="0" i="0" u="none">
                <a:solidFill>
                  <a:srgbClr val="000000"/>
                </a:solidFill>
                <a:latin typeface="Liberation Sans"/>
                <a:ea typeface="Liberation Sans"/>
                <a:cs typeface="Liberation Sans"/>
              </a:rPr>
              <a:t>(</a:t>
            </a:r>
            <mc:AlternateContent xmlns:mc="http://schemas.openxmlformats.org/markup-compatibility/2006" xmlns:m="http://schemas.openxmlformats.org/officeDocument/2006/math">
              <mc:Choice xmlns:a14="http://schemas.microsoft.com/office/drawing/2010/main" Requires="a14">
                <a14:m>
                  <m:oMathPara>
                    <m:oMathParaPr/>
                    <m:oMath>
                      <m:rad>
                        <m:radPr>
                          <m:degHide m:val="on"/>
                          <m:ctrlPr>
                            <a:rPr lang="en-US" sz="2800" b="0" i="0" u="none" strike="noStrike" cap="none" spc="0">
                              <a:solidFill>
                                <a:srgbClr val="000000"/>
                              </a:solidFill>
                              <a:latin typeface="Cambria Math"/>
                              <a:ea typeface="Cambria Math"/>
                              <a:cs typeface="Cambria Math"/>
                            </a:rPr>
                          </m:ctrlPr>
                        </m:radPr>
                        <m:deg>
                          <m:r>
                            <m:rPr/>
                            <a:rPr>
                              <a:latin typeface="Cambria Math"/>
                              <a:ea typeface="Cambria Math"/>
                              <a:cs typeface="Cambria Math"/>
                            </a:rPr>
                            <m:t/>
                          </m:r>
                        </m:deg>
                        <m:e>
                          <m:r>
                            <m:rPr>
                              <m:sty m:val="p"/>
                            </m:rPr>
                            <a:rPr lang="en-US" sz="2800" u="none" strike="noStrike" cap="none" spc="0">
                              <a:solidFill>
                                <a:srgbClr val="000000"/>
                              </a:solidFill>
                              <a:latin typeface="Cambria Math"/>
                              <a:ea typeface="Cambria Math"/>
                              <a:cs typeface="Cambria Math"/>
                            </a:rPr>
                            <m:t>N</m:t>
                          </m:r>
                        </m:e>
                      </m:rad>
                    </m:oMath>
                  </m:oMathPara>
                </a14:m>
              </mc:Choice>
              <mc:Fallback/>
            </mc:AlternateContent>
            <a:r>
              <a:rPr sz="2800" b="0" i="0" u="none">
                <a:solidFill>
                  <a:srgbClr val="000000"/>
                </a:solidFill>
                <a:latin typeface="Liberation Sans"/>
                <a:ea typeface="Liberation Sans"/>
                <a:cs typeface="Liberation Sans"/>
              </a:rPr>
              <a:t>)</a:t>
            </a:r>
            <a:r>
              <a:rPr sz="2800" b="0" i="0" u="none">
                <a:solidFill>
                  <a:srgbClr val="000000"/>
                </a:solidFill>
                <a:latin typeface="Times New Roman"/>
                <a:ea typeface="Times New Roman"/>
                <a:cs typeface="Times New Roman"/>
              </a:rPr>
              <a:t>.</a:t>
            </a:r>
            <a:endParaRPr sz="2800"/>
          </a:p>
          <a:p>
            <a:pPr>
              <a:defRPr/>
            </a:pPr>
            <a:endParaRPr sz="2800"/>
          </a:p>
          <a:p>
            <a:pPr>
              <a:defRPr/>
            </a:pPr>
            <a:r>
              <a:rPr sz="2800" b="0" i="0" u="none">
                <a:solidFill>
                  <a:srgbClr val="000000"/>
                </a:solidFill>
                <a:latin typeface="Times New Roman"/>
                <a:ea typeface="Times New Roman"/>
                <a:cs typeface="Times New Roman"/>
              </a:rPr>
              <a:t>This reduces the effective security of a hash function from </a:t>
            </a:r>
            <a:r>
              <a:rPr sz="2800" b="0" i="0" u="none">
                <a:solidFill>
                  <a:srgbClr val="000000"/>
                </a:solidFill>
                <a:latin typeface="Liberation Sans"/>
                <a:ea typeface="Liberation Sans"/>
                <a:cs typeface="Liberation Sans"/>
              </a:rPr>
              <a:t>2</a:t>
            </a:r>
            <a:r>
              <a:rPr sz="2800" b="0" i="0" u="none" baseline="30000">
                <a:solidFill>
                  <a:srgbClr val="000000"/>
                </a:solidFill>
                <a:latin typeface="Times New Roman"/>
                <a:ea typeface="Times New Roman"/>
                <a:cs typeface="Times New Roman"/>
              </a:rPr>
              <a:t>n  </a:t>
            </a:r>
            <a:r>
              <a:rPr sz="2800" b="0" i="0" u="none">
                <a:solidFill>
                  <a:srgbClr val="000000"/>
                </a:solidFill>
                <a:latin typeface="Times New Roman"/>
                <a:ea typeface="Times New Roman"/>
                <a:cs typeface="Times New Roman"/>
              </a:rPr>
              <a:t>to </a:t>
            </a:r>
            <a:r>
              <a:rPr sz="2800" b="0" i="0" u="none">
                <a:solidFill>
                  <a:srgbClr val="000000"/>
                </a:solidFill>
                <a:latin typeface="Liberation Sans"/>
                <a:ea typeface="Liberation Sans"/>
                <a:cs typeface="Liberation Sans"/>
              </a:rPr>
              <a:t>2</a:t>
            </a:r>
            <a:r>
              <a:rPr sz="2800" b="0" i="0" u="none" baseline="30000">
                <a:solidFill>
                  <a:srgbClr val="000000"/>
                </a:solidFill>
                <a:latin typeface="Liberation Sans"/>
                <a:ea typeface="Liberation Sans"/>
                <a:cs typeface="Liberation Sans"/>
              </a:rPr>
              <a:t>n</a:t>
            </a:r>
            <a:r>
              <a:rPr sz="2800" b="0" i="0" u="none" baseline="30000">
                <a:solidFill>
                  <a:srgbClr val="000000"/>
                </a:solidFill>
                <a:latin typeface="Liberation Sans"/>
                <a:ea typeface="Liberation Sans"/>
                <a:cs typeface="Liberation Sans"/>
              </a:rPr>
              <a:t>/</a:t>
            </a:r>
            <a:r>
              <a:rPr sz="2800" b="0" i="0" u="none" baseline="30000">
                <a:solidFill>
                  <a:srgbClr val="000000"/>
                </a:solidFill>
                <a:latin typeface="Liberation Sans"/>
                <a:ea typeface="Liberation Sans"/>
                <a:cs typeface="Liberation Sans"/>
              </a:rPr>
              <a:t>2</a:t>
            </a:r>
            <a:r>
              <a:rPr sz="2800" b="0" i="0" u="none">
                <a:solidFill>
                  <a:srgbClr val="000000"/>
                </a:solidFill>
                <a:latin typeface="Times New Roman"/>
                <a:ea typeface="Times New Roman"/>
                <a:cs typeface="Times New Roman"/>
              </a:rPr>
              <a:t>. For instance, a 256-bit hash function like SHA-256 would have an effective security of 128 bits against Grover's algorithm.</a:t>
            </a:r>
            <a:endParaRPr sz="2800"/>
          </a:p>
        </p:txBody>
      </p:sp>
      <p:sp>
        <p:nvSpPr>
          <p:cNvPr id="1165563046" name=""/>
          <p:cNvSpPr txBox="1"/>
          <p:nvPr/>
        </p:nvSpPr>
        <p:spPr bwMode="auto">
          <a:xfrm flipH="0" flipV="0">
            <a:off x="9236519" y="2788560"/>
            <a:ext cx="1351268"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sz="3600" b="1">
              <a:solidFill>
                <a:schemeClr val="bg1"/>
              </a:solidFill>
            </a:endParaRPr>
          </a:p>
        </p:txBody>
      </p:sp>
      <p:sp>
        <p:nvSpPr>
          <p:cNvPr id="2118317558" name=""/>
          <p:cNvSpPr txBox="1"/>
          <p:nvPr/>
        </p:nvSpPr>
        <p:spPr bwMode="auto">
          <a:xfrm flipH="0" flipV="0">
            <a:off x="7586791" y="2529466"/>
            <a:ext cx="105799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sz="3600" b="1">
              <a:solidFill>
                <a:schemeClr val="bg1"/>
              </a:solidFill>
            </a:endParaRPr>
          </a:p>
        </p:txBody>
      </p:sp>
      <p:pic>
        <p:nvPicPr>
          <p:cNvPr id="1823700199" name=""/>
          <p:cNvPicPr>
            <a:picLocks noChangeAspect="1"/>
          </p:cNvPicPr>
          <p:nvPr/>
        </p:nvPicPr>
        <p:blipFill>
          <a:blip r:embed="rId3"/>
          <a:stretch/>
        </p:blipFill>
        <p:spPr bwMode="auto">
          <a:xfrm flipH="0" flipV="0">
            <a:off x="7555279" y="954211"/>
            <a:ext cx="9852301" cy="326767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441227876" name="Group 2"/>
          <p:cNvGrpSpPr/>
          <p:nvPr/>
        </p:nvGrpSpPr>
        <p:grpSpPr bwMode="auto">
          <a:xfrm rot="0">
            <a:off x="360261" y="466830"/>
            <a:ext cx="17404552" cy="9527295"/>
            <a:chOff x="0" y="0"/>
            <a:chExt cx="23206070" cy="12703060"/>
          </a:xfrm>
        </p:grpSpPr>
        <p:grpSp>
          <p:nvGrpSpPr>
            <p:cNvPr id="1184214541" name="Group 3"/>
            <p:cNvGrpSpPr/>
            <p:nvPr/>
          </p:nvGrpSpPr>
          <p:grpSpPr bwMode="auto">
            <a:xfrm rot="0">
              <a:off x="0" y="0"/>
              <a:ext cx="23206070" cy="12703060"/>
              <a:chOff x="0" y="0"/>
              <a:chExt cx="4596478" cy="2516123"/>
            </a:xfrm>
          </p:grpSpPr>
          <p:sp>
            <p:nvSpPr>
              <p:cNvPr id="282481123" name="Freeform 4"/>
              <p:cNvSpPr/>
              <p:nvPr/>
            </p:nvSpPr>
            <p:spPr bwMode="auto">
              <a:xfrm rot="0" flipH="0" flipV="0">
                <a:off x="0" y="0"/>
                <a:ext cx="4596478" cy="2516123"/>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39140354" name="TextBox 5"/>
              <p:cNvSpPr txBox="1"/>
              <p:nvPr/>
            </p:nvSpPr>
            <p:spPr bwMode="auto">
              <a:xfrm>
                <a:off x="38099" y="-9524"/>
                <a:ext cx="4520278" cy="2487548"/>
              </a:xfrm>
              <a:prstGeom prst="rect">
                <a:avLst/>
              </a:prstGeom>
              <a:grpFill/>
            </p:spPr>
            <p:txBody>
              <a:bodyPr lIns="50799" tIns="50799" rIns="50799" bIns="50799" rtlCol="0" anchor="ctr"/>
              <a:lstStyle/>
              <a:p>
                <a:pPr algn="ctr">
                  <a:lnSpc>
                    <a:spcPts val="2658"/>
                  </a:lnSpc>
                  <a:defRPr/>
                </a:pPr>
                <a:endParaRPr/>
              </a:p>
            </p:txBody>
          </p:sp>
        </p:grpSp>
        <p:grpSp>
          <p:nvGrpSpPr>
            <p:cNvPr id="2145958098" name="Group 6"/>
            <p:cNvGrpSpPr/>
            <p:nvPr/>
          </p:nvGrpSpPr>
          <p:grpSpPr bwMode="auto">
            <a:xfrm rot="0">
              <a:off x="170292" y="186016"/>
              <a:ext cx="22836361" cy="12317627"/>
              <a:chOff x="0" y="0"/>
              <a:chExt cx="4596478" cy="2479278"/>
            </a:xfrm>
          </p:grpSpPr>
          <p:sp>
            <p:nvSpPr>
              <p:cNvPr id="181433526" name="Freeform 7"/>
              <p:cNvSpPr/>
              <p:nvPr/>
            </p:nvSpPr>
            <p:spPr bwMode="auto">
              <a:xfrm rot="0" flipH="0" flipV="0">
                <a:off x="0" y="0"/>
                <a:ext cx="4596478" cy="2479278"/>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1934016813" name="TextBox 8"/>
              <p:cNvSpPr txBox="1"/>
              <p:nvPr/>
            </p:nvSpPr>
            <p:spPr bwMode="auto">
              <a:xfrm>
                <a:off x="38099" y="-9524"/>
                <a:ext cx="4520278" cy="2450703"/>
              </a:xfrm>
              <a:prstGeom prst="rect">
                <a:avLst/>
              </a:prstGeom>
              <a:grpFill/>
            </p:spPr>
            <p:txBody>
              <a:bodyPr lIns="50799" tIns="50799" rIns="50799" bIns="50799" rtlCol="0" anchor="ctr"/>
              <a:lstStyle/>
              <a:p>
                <a:pPr algn="ctr">
                  <a:lnSpc>
                    <a:spcPts val="2658"/>
                  </a:lnSpc>
                  <a:defRPr/>
                </a:pPr>
                <a:endParaRPr/>
              </a:p>
            </p:txBody>
          </p:sp>
        </p:grpSp>
      </p:grpSp>
      <p:sp>
        <p:nvSpPr>
          <p:cNvPr id="2072753062" name="TextBox 9"/>
          <p:cNvSpPr txBox="1"/>
          <p:nvPr/>
        </p:nvSpPr>
        <p:spPr bwMode="auto">
          <a:xfrm rot="0" flipH="0" flipV="0">
            <a:off x="1398646" y="913860"/>
            <a:ext cx="9601393" cy="2194919"/>
          </a:xfrm>
          <a:prstGeom prst="rect">
            <a:avLst/>
          </a:prstGeom>
        </p:spPr>
        <p:txBody>
          <a:bodyPr lIns="0" tIns="0" rIns="0" bIns="0" rtlCol="0" anchor="t">
            <a:spAutoFit/>
          </a:bodyPr>
          <a:lstStyle/>
          <a:p>
            <a:pPr>
              <a:defRPr/>
            </a:pPr>
            <a:r>
              <a:rPr sz="7200" b="1"/>
              <a:t>Grover’s A</a:t>
            </a:r>
            <a:r>
              <a:rPr sz="7200" b="1"/>
              <a:t>lgorithm</a:t>
            </a:r>
            <a:r>
              <a:rPr sz="7200" b="1"/>
              <a:t> Iteration</a:t>
            </a:r>
            <a:endParaRPr sz="7200" b="1"/>
          </a:p>
        </p:txBody>
      </p:sp>
      <p:sp>
        <p:nvSpPr>
          <p:cNvPr id="141678632" name="TextBox 11"/>
          <p:cNvSpPr txBox="1"/>
          <p:nvPr/>
        </p:nvSpPr>
        <p:spPr bwMode="auto">
          <a:xfrm rot="0" flipH="0" flipV="0">
            <a:off x="1650202" y="4347197"/>
            <a:ext cx="15071406" cy="274679"/>
          </a:xfrm>
          <a:prstGeom prst="rect">
            <a:avLst/>
          </a:prstGeom>
        </p:spPr>
        <p:txBody>
          <a:bodyPr lIns="0" tIns="0" rIns="0" bIns="0" rtlCol="0" anchor="t">
            <a:spAutoFit/>
          </a:bodyPr>
          <a:lstStyle/>
          <a:p>
            <a:pPr>
              <a:defRPr/>
            </a:pPr>
            <a:endParaRPr/>
          </a:p>
        </p:txBody>
      </p:sp>
      <p:sp>
        <p:nvSpPr>
          <p:cNvPr id="1269875777" name=""/>
          <p:cNvSpPr txBox="1"/>
          <p:nvPr/>
        </p:nvSpPr>
        <p:spPr bwMode="auto">
          <a:xfrm flipH="0" flipV="0">
            <a:off x="9236519" y="2788560"/>
            <a:ext cx="1351268"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sz="3600" b="1">
              <a:solidFill>
                <a:schemeClr val="bg1"/>
              </a:solidFill>
            </a:endParaRPr>
          </a:p>
        </p:txBody>
      </p:sp>
      <p:sp>
        <p:nvSpPr>
          <p:cNvPr id="659876862" name=""/>
          <p:cNvSpPr txBox="1"/>
          <p:nvPr/>
        </p:nvSpPr>
        <p:spPr bwMode="auto">
          <a:xfrm flipH="0" flipV="0">
            <a:off x="7586791" y="2529466"/>
            <a:ext cx="105799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sz="3600" b="1">
              <a:solidFill>
                <a:schemeClr val="bg1"/>
              </a:solidFill>
            </a:endParaRPr>
          </a:p>
        </p:txBody>
      </p:sp>
      <p:pic>
        <p:nvPicPr>
          <p:cNvPr id="1755502060" name=""/>
          <p:cNvPicPr>
            <a:picLocks noChangeAspect="1"/>
          </p:cNvPicPr>
          <p:nvPr/>
        </p:nvPicPr>
        <p:blipFill>
          <a:blip r:embed="rId3"/>
          <a:stretch/>
        </p:blipFill>
        <p:spPr bwMode="auto">
          <a:xfrm flipH="0" flipV="0">
            <a:off x="11458552" y="3503090"/>
            <a:ext cx="5515502" cy="5584274"/>
          </a:xfrm>
          <a:prstGeom prst="rect">
            <a:avLst/>
          </a:prstGeom>
        </p:spPr>
      </p:pic>
      <p:pic>
        <p:nvPicPr>
          <p:cNvPr id="1924964005" name=""/>
          <p:cNvPicPr>
            <a:picLocks noChangeAspect="1"/>
          </p:cNvPicPr>
          <p:nvPr/>
        </p:nvPicPr>
        <p:blipFill>
          <a:blip r:embed="rId4"/>
          <a:stretch/>
        </p:blipFill>
        <p:spPr bwMode="auto">
          <a:xfrm flipH="0" flipV="0">
            <a:off x="932806" y="3224267"/>
            <a:ext cx="10113679" cy="63263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1261869676" name="Group 2"/>
          <p:cNvGrpSpPr/>
          <p:nvPr/>
        </p:nvGrpSpPr>
        <p:grpSpPr bwMode="auto">
          <a:xfrm rot="0">
            <a:off x="308775" y="379277"/>
            <a:ext cx="17404552" cy="9563362"/>
            <a:chOff x="0" y="0"/>
            <a:chExt cx="17404552" cy="9563362"/>
          </a:xfrm>
        </p:grpSpPr>
        <p:grpSp>
          <p:nvGrpSpPr>
            <p:cNvPr id="1387058876" name="Group 3"/>
            <p:cNvGrpSpPr/>
            <p:nvPr/>
          </p:nvGrpSpPr>
          <p:grpSpPr bwMode="auto">
            <a:xfrm rot="0">
              <a:off x="0" y="0"/>
              <a:ext cx="17404552" cy="9563362"/>
              <a:chOff x="0" y="0"/>
              <a:chExt cx="17404552" cy="9563362"/>
            </a:xfrm>
          </p:grpSpPr>
          <p:sp>
            <p:nvSpPr>
              <p:cNvPr id="909472417" name="Freeform 4"/>
              <p:cNvSpPr/>
              <p:nvPr/>
            </p:nvSpPr>
            <p:spPr bwMode="auto">
              <a:xfrm rot="0" flipH="0" flipV="0">
                <a:off x="0" y="36066"/>
                <a:ext cx="17404552" cy="9527295"/>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1293705941" name="TextBox 5"/>
              <p:cNvSpPr txBox="1"/>
              <p:nvPr/>
            </p:nvSpPr>
            <p:spPr bwMode="auto">
              <a:xfrm>
                <a:off x="144265" y="0"/>
                <a:ext cx="17116021" cy="9419096"/>
              </a:xfrm>
              <a:prstGeom prst="rect">
                <a:avLst/>
              </a:prstGeom>
              <a:grpFill/>
            </p:spPr>
            <p:txBody>
              <a:bodyPr lIns="50799" tIns="50799" rIns="50799" bIns="50799" rtlCol="0" anchor="ctr"/>
              <a:lstStyle/>
              <a:p>
                <a:pPr algn="ctr">
                  <a:lnSpc>
                    <a:spcPts val="2658"/>
                  </a:lnSpc>
                  <a:defRPr/>
                </a:pPr>
                <a:endParaRPr/>
              </a:p>
            </p:txBody>
          </p:sp>
        </p:grpSp>
        <p:grpSp>
          <p:nvGrpSpPr>
            <p:cNvPr id="1937597703" name="Group 6"/>
            <p:cNvGrpSpPr/>
            <p:nvPr/>
          </p:nvGrpSpPr>
          <p:grpSpPr bwMode="auto">
            <a:xfrm rot="0">
              <a:off x="127719" y="140087"/>
              <a:ext cx="17127271" cy="9273712"/>
              <a:chOff x="0" y="0"/>
              <a:chExt cx="17127271" cy="9273712"/>
            </a:xfrm>
          </p:grpSpPr>
          <p:sp>
            <p:nvSpPr>
              <p:cNvPr id="2068180571" name="Freeform 7"/>
              <p:cNvSpPr/>
              <p:nvPr/>
            </p:nvSpPr>
            <p:spPr bwMode="auto">
              <a:xfrm rot="0" flipH="0" flipV="0">
                <a:off x="0" y="35491"/>
                <a:ext cx="17127271" cy="9238221"/>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1261708849" name="TextBox 8"/>
              <p:cNvSpPr txBox="1"/>
              <p:nvPr/>
            </p:nvSpPr>
            <p:spPr bwMode="auto">
              <a:xfrm>
                <a:off x="116223" y="0"/>
                <a:ext cx="16843336" cy="9131745"/>
              </a:xfrm>
              <a:prstGeom prst="rect">
                <a:avLst/>
              </a:prstGeom>
              <a:grpFill/>
            </p:spPr>
            <p:txBody>
              <a:bodyPr lIns="50799" tIns="50799" rIns="50799" bIns="50799" rtlCol="0" anchor="ctr"/>
              <a:lstStyle/>
              <a:p>
                <a:pPr algn="ctr">
                  <a:lnSpc>
                    <a:spcPts val="2658"/>
                  </a:lnSpc>
                  <a:defRPr/>
                </a:pPr>
                <a:endParaRPr/>
              </a:p>
            </p:txBody>
          </p:sp>
        </p:grpSp>
      </p:grpSp>
      <p:sp>
        <p:nvSpPr>
          <p:cNvPr id="15436487" name="TextBox 9"/>
          <p:cNvSpPr txBox="1"/>
          <p:nvPr/>
        </p:nvSpPr>
        <p:spPr bwMode="auto">
          <a:xfrm rot="0" flipH="0" flipV="0">
            <a:off x="2090800" y="1752226"/>
            <a:ext cx="11427757" cy="2194919"/>
          </a:xfrm>
          <a:prstGeom prst="rect">
            <a:avLst/>
          </a:prstGeom>
        </p:spPr>
        <p:txBody>
          <a:bodyPr lIns="0" tIns="0" rIns="0" bIns="0" rtlCol="0" anchor="t">
            <a:spAutoFit/>
          </a:bodyPr>
          <a:lstStyle/>
          <a:p>
            <a:pPr>
              <a:defRPr/>
            </a:pPr>
            <a:r>
              <a:rPr sz="7200" b="1"/>
              <a:t>Grover’s A</a:t>
            </a:r>
            <a:r>
              <a:rPr sz="7200" b="1"/>
              <a:t>lgorithm</a:t>
            </a:r>
            <a:r>
              <a:rPr sz="7200" b="1"/>
              <a:t> complexity</a:t>
            </a:r>
            <a:endParaRPr sz="7200" b="1"/>
          </a:p>
        </p:txBody>
      </p:sp>
      <p:sp>
        <p:nvSpPr>
          <p:cNvPr id="287254099" name="TextBox 11"/>
          <p:cNvSpPr txBox="1"/>
          <p:nvPr/>
        </p:nvSpPr>
        <p:spPr bwMode="auto">
          <a:xfrm rot="0" flipH="0" flipV="0">
            <a:off x="1650202" y="4347197"/>
            <a:ext cx="15071406" cy="274679"/>
          </a:xfrm>
          <a:prstGeom prst="rect">
            <a:avLst/>
          </a:prstGeom>
        </p:spPr>
        <p:txBody>
          <a:bodyPr lIns="0" tIns="0" rIns="0" bIns="0" rtlCol="0" anchor="t">
            <a:spAutoFit/>
          </a:bodyPr>
          <a:lstStyle/>
          <a:p>
            <a:pPr>
              <a:defRPr/>
            </a:pPr>
            <a:endParaRPr/>
          </a:p>
        </p:txBody>
      </p:sp>
      <p:sp>
        <p:nvSpPr>
          <p:cNvPr id="1226995573" name=""/>
          <p:cNvSpPr txBox="1"/>
          <p:nvPr/>
        </p:nvSpPr>
        <p:spPr bwMode="auto">
          <a:xfrm flipH="0" flipV="0">
            <a:off x="9236519" y="2788560"/>
            <a:ext cx="1351268"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sz="3600" b="1">
              <a:solidFill>
                <a:schemeClr val="bg1"/>
              </a:solidFill>
            </a:endParaRPr>
          </a:p>
        </p:txBody>
      </p:sp>
      <p:sp>
        <p:nvSpPr>
          <p:cNvPr id="159179790" name=""/>
          <p:cNvSpPr txBox="1"/>
          <p:nvPr/>
        </p:nvSpPr>
        <p:spPr bwMode="auto">
          <a:xfrm flipH="0" flipV="0">
            <a:off x="7586791" y="2529466"/>
            <a:ext cx="105799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sz="3600" b="1">
              <a:solidFill>
                <a:schemeClr val="bg1"/>
              </a:solidFill>
            </a:endParaRPr>
          </a:p>
        </p:txBody>
      </p:sp>
      <p:pic>
        <p:nvPicPr>
          <p:cNvPr id="1739321462" name=""/>
          <p:cNvPicPr>
            <a:picLocks noChangeAspect="1"/>
          </p:cNvPicPr>
          <p:nvPr/>
        </p:nvPicPr>
        <p:blipFill>
          <a:blip r:embed="rId3"/>
          <a:stretch/>
        </p:blipFill>
        <p:spPr bwMode="auto">
          <a:xfrm>
            <a:off x="11128289" y="2714109"/>
            <a:ext cx="6019799" cy="5734049"/>
          </a:xfrm>
          <a:prstGeom prst="rect">
            <a:avLst/>
          </a:prstGeom>
        </p:spPr>
      </p:pic>
      <p:sp>
        <p:nvSpPr>
          <p:cNvPr id="395254728" name=""/>
          <p:cNvSpPr txBox="1"/>
          <p:nvPr/>
        </p:nvSpPr>
        <p:spPr bwMode="auto">
          <a:xfrm flipH="0" flipV="0">
            <a:off x="1753175" y="4376351"/>
            <a:ext cx="8914722" cy="5224103"/>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49965" indent="-349965">
              <a:buFont typeface="Arial"/>
              <a:buChar char="•"/>
              <a:defRPr/>
            </a:pPr>
            <a:r>
              <a:rPr sz="2400" b="0" i="0" u="none">
                <a:solidFill>
                  <a:schemeClr val="tx1">
                    <a:lumMod val="85000"/>
                    <a:lumOff val="15000"/>
                  </a:schemeClr>
                </a:solidFill>
                <a:latin typeface="Times New Roman"/>
                <a:ea typeface="Times New Roman"/>
                <a:cs typeface="Times New Roman"/>
              </a:rPr>
              <a:t>Grover’s algorithm demonstrates a quadratic speedup in searching N items, achieving a complexity of O(√N). For an n-bit hash output, N = 2</a:t>
            </a:r>
            <a:r>
              <a:rPr sz="2400" b="0" i="0" u="none" baseline="30000">
                <a:solidFill>
                  <a:schemeClr val="tx1">
                    <a:lumMod val="85000"/>
                    <a:lumOff val="15000"/>
                  </a:schemeClr>
                </a:solidFill>
                <a:latin typeface="Times New Roman"/>
                <a:ea typeface="Times New Roman"/>
                <a:cs typeface="Times New Roman"/>
              </a:rPr>
              <a:t>n</a:t>
            </a:r>
            <a:r>
              <a:rPr sz="2400" b="0" i="0" u="none">
                <a:solidFill>
                  <a:schemeClr val="tx1">
                    <a:lumMod val="85000"/>
                    <a:lumOff val="15000"/>
                  </a:schemeClr>
                </a:solidFill>
                <a:latin typeface="Times New Roman"/>
                <a:ea typeface="Times New Roman"/>
                <a:cs typeface="Times New Roman"/>
              </a:rPr>
              <a:t>, and Grover’s search requires O(2</a:t>
            </a:r>
            <a:r>
              <a:rPr sz="2400" b="0" i="0" u="none" baseline="30000">
                <a:solidFill>
                  <a:schemeClr val="tx1">
                    <a:lumMod val="85000"/>
                    <a:lumOff val="15000"/>
                  </a:schemeClr>
                </a:solidFill>
                <a:latin typeface="Times New Roman"/>
                <a:ea typeface="Times New Roman"/>
                <a:cs typeface="Times New Roman"/>
              </a:rPr>
              <a:t>(n/2)</a:t>
            </a:r>
            <a:r>
              <a:rPr sz="2400" b="0" i="0" u="none">
                <a:solidFill>
                  <a:schemeClr val="tx1">
                    <a:lumMod val="85000"/>
                    <a:lumOff val="15000"/>
                  </a:schemeClr>
                </a:solidFill>
                <a:latin typeface="Times New Roman"/>
                <a:ea typeface="Times New Roman"/>
                <a:cs typeface="Times New Roman"/>
              </a:rPr>
              <a:t>) iterations. In the Random Oracle Model (ROM), the non-deterministic outputs disrupt amplitude amplification, which is essential for Grover’s algorithm, making it less effective. As the entropy (S = kB ln(W + 1)) increases dynamically, the number of unique microstates (W) grows exponentially with input size. Consequently, the effective complexity of breaking the hash function H becomes O(2</a:t>
            </a:r>
            <a:r>
              <a:rPr sz="2400" b="0" i="0" u="none" baseline="30000">
                <a:solidFill>
                  <a:schemeClr val="tx1">
                    <a:lumMod val="85000"/>
                    <a:lumOff val="15000"/>
                  </a:schemeClr>
                </a:solidFill>
                <a:latin typeface="Times New Roman"/>
                <a:ea typeface="Times New Roman"/>
                <a:cs typeface="Times New Roman"/>
              </a:rPr>
              <a:t>n</a:t>
            </a:r>
            <a:r>
              <a:rPr sz="2400" b="0" i="0" u="none">
                <a:solidFill>
                  <a:schemeClr val="tx1">
                    <a:lumMod val="85000"/>
                    <a:lumOff val="15000"/>
                  </a:schemeClr>
                </a:solidFill>
                <a:latin typeface="Times New Roman"/>
                <a:ea typeface="Times New Roman"/>
                <a:cs typeface="Times New Roman"/>
              </a:rPr>
              <a:t>), equivalent to classical exhaustive search</a:t>
            </a:r>
            <a:r>
              <a:rPr sz="2400">
                <a:solidFill>
                  <a:schemeClr val="tx1">
                    <a:lumMod val="85000"/>
                    <a:lumOff val="15000"/>
                  </a:schemeClr>
                </a:solidFill>
              </a:rPr>
              <a:t>.</a:t>
            </a:r>
            <a:endParaRPr sz="2400">
              <a:solidFill>
                <a:schemeClr val="tx1">
                  <a:lumMod val="85000"/>
                  <a:lumOff val="15000"/>
                </a:schemeClr>
              </a:solidFill>
            </a:endParaRPr>
          </a:p>
          <a:p>
            <a:pPr marL="349965" indent="-349965">
              <a:buFont typeface="Arial"/>
              <a:buChar char="•"/>
              <a:defRPr/>
            </a:pPr>
            <a:r>
              <a:rPr sz="2400" b="0" i="0" u="none">
                <a:solidFill>
                  <a:schemeClr val="tx1">
                    <a:lumMod val="85000"/>
                    <a:lumOff val="15000"/>
                  </a:schemeClr>
                </a:solidFill>
                <a:latin typeface="Times New Roman"/>
                <a:ea typeface="Times New Roman"/>
                <a:cs typeface="Times New Roman"/>
              </a:rPr>
              <a:t>For a 512-bit hash, classical brute force requires 2</a:t>
            </a:r>
            <a:r>
              <a:rPr sz="2400" b="0" i="0" u="none" baseline="30000">
                <a:solidFill>
                  <a:schemeClr val="tx1">
                    <a:lumMod val="85000"/>
                    <a:lumOff val="15000"/>
                  </a:schemeClr>
                </a:solidFill>
                <a:latin typeface="Times New Roman"/>
                <a:ea typeface="Times New Roman"/>
                <a:cs typeface="Times New Roman"/>
              </a:rPr>
              <a:t>512 </a:t>
            </a:r>
            <a:r>
              <a:rPr sz="2400" b="0" i="0" u="none">
                <a:solidFill>
                  <a:schemeClr val="tx1">
                    <a:lumMod val="85000"/>
                    <a:lumOff val="15000"/>
                  </a:schemeClr>
                </a:solidFill>
                <a:latin typeface="Times New Roman"/>
                <a:ea typeface="Times New Roman"/>
                <a:cs typeface="Times New Roman"/>
              </a:rPr>
              <a:t>operations, while Grover’s algorithm reduces it to 2</a:t>
            </a:r>
            <a:r>
              <a:rPr sz="2400" b="0" i="0" u="none" baseline="30000">
                <a:solidFill>
                  <a:schemeClr val="tx1">
                    <a:lumMod val="85000"/>
                    <a:lumOff val="15000"/>
                  </a:schemeClr>
                </a:solidFill>
                <a:latin typeface="Times New Roman"/>
                <a:ea typeface="Times New Roman"/>
                <a:cs typeface="Times New Roman"/>
              </a:rPr>
              <a:t>256</a:t>
            </a:r>
            <a:r>
              <a:rPr sz="2400" b="0" i="0" u="none">
                <a:solidFill>
                  <a:schemeClr val="tx1">
                    <a:lumMod val="85000"/>
                    <a:lumOff val="15000"/>
                  </a:schemeClr>
                </a:solidFill>
                <a:latin typeface="Times New Roman"/>
                <a:ea typeface="Times New Roman"/>
                <a:cs typeface="Times New Roman"/>
              </a:rPr>
              <a:t>. However, this reduction is still impractical with current technology, as O(2</a:t>
            </a:r>
            <a:r>
              <a:rPr sz="2400" b="0" i="0" u="none" baseline="30000">
                <a:solidFill>
                  <a:schemeClr val="tx1">
                    <a:lumMod val="85000"/>
                    <a:lumOff val="15000"/>
                  </a:schemeClr>
                </a:solidFill>
                <a:latin typeface="Times New Roman"/>
                <a:ea typeface="Times New Roman"/>
                <a:cs typeface="Times New Roman"/>
              </a:rPr>
              <a:t>256</a:t>
            </a:r>
            <a:r>
              <a:rPr sz="2400" b="0" i="0" u="none">
                <a:solidFill>
                  <a:schemeClr val="tx1">
                    <a:lumMod val="85000"/>
                    <a:lumOff val="15000"/>
                  </a:schemeClr>
                </a:solidFill>
                <a:latin typeface="Times New Roman"/>
                <a:ea typeface="Times New Roman"/>
                <a:cs typeface="Times New Roman"/>
              </a:rPr>
              <a:t>) remains exponentially large and not computationally trivial.</a:t>
            </a:r>
            <a:endParaRPr sz="2400">
              <a:solidFill>
                <a:schemeClr val="tx1">
                  <a:lumMod val="85000"/>
                  <a:lumOff val="15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84118" y="359386"/>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2197491" y="1596532"/>
            <a:ext cx="13899495" cy="1525502"/>
          </a:xfrm>
          <a:prstGeom prst="rect">
            <a:avLst/>
          </a:prstGeom>
        </p:spPr>
        <p:txBody>
          <a:bodyPr lIns="0" tIns="0" rIns="0" bIns="0" rtlCol="0" anchor="t">
            <a:spAutoFit/>
          </a:bodyPr>
          <a:lstStyle/>
          <a:p>
            <a:pPr algn="ctr">
              <a:lnSpc>
                <a:spcPts val="12009"/>
              </a:lnSpc>
              <a:spcBef>
                <a:spcPts val="0"/>
              </a:spcBef>
              <a:defRPr/>
            </a:pPr>
            <a:r>
              <a:rPr lang="en-US" sz="8600" b="1">
                <a:solidFill>
                  <a:srgbClr val="261310"/>
                </a:solidFill>
                <a:latin typeface="Grand Cru S Bold"/>
                <a:ea typeface="Grand Cru S Bold"/>
                <a:cs typeface="Grand Cru S Bold"/>
              </a:rPr>
              <a:t>Statistical Test</a:t>
            </a:r>
            <a:endParaRPr/>
          </a:p>
        </p:txBody>
      </p:sp>
      <p:sp>
        <p:nvSpPr>
          <p:cNvPr id="10" name="TextBox 10"/>
          <p:cNvSpPr txBox="1"/>
          <p:nvPr/>
        </p:nvSpPr>
        <p:spPr bwMode="auto">
          <a:xfrm rot="0">
            <a:off x="3919870" y="5085558"/>
            <a:ext cx="4142889" cy="167675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Evaluates randomness by analyzing collisions in randomly generated numbers, detecting patterns that could weaken cryptographic systems.</a:t>
            </a:r>
            <a:endParaRPr sz="2200"/>
          </a:p>
        </p:txBody>
      </p:sp>
      <p:grpSp>
        <p:nvGrpSpPr>
          <p:cNvPr id="11" name="Group 11"/>
          <p:cNvGrpSpPr>
            <a:grpSpLocks noChangeAspect="1"/>
          </p:cNvGrpSpPr>
          <p:nvPr/>
        </p:nvGrpSpPr>
        <p:grpSpPr bwMode="auto">
          <a:xfrm rot="0" flipH="0" flipV="0">
            <a:off x="2102217" y="4643889"/>
            <a:ext cx="1071114" cy="1071110"/>
            <a:chOff x="0" y="0"/>
            <a:chExt cx="1071114" cy="1071110"/>
          </a:xfrm>
        </p:grpSpPr>
        <p:sp>
          <p:nvSpPr>
            <p:cNvPr id="12" name="Freeform 12"/>
            <p:cNvSpPr/>
            <p:nvPr/>
          </p:nvSpPr>
          <p:spPr bwMode="auto">
            <a:xfrm rot="0" flipH="0" flipV="0">
              <a:off x="0" y="0"/>
              <a:ext cx="1071114" cy="1071110"/>
            </a:xfrm>
            <a:custGeom>
              <a:avLst/>
              <a:gdLst/>
              <a:ahLst/>
              <a:cxnLst/>
              <a:rect l="l" t="t" r="r" b="b"/>
              <a:pathLst>
                <a:path w="6350000" h="6349974" fill="norm" stroke="1"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rcRect l="8188" t="31953" r="39900" b="33460"/>
              <a:stretch/>
            </a:blipFill>
          </p:spPr>
        </p:sp>
      </p:grpSp>
      <p:grpSp>
        <p:nvGrpSpPr>
          <p:cNvPr id="13" name="Group 13"/>
          <p:cNvGrpSpPr>
            <a:grpSpLocks noChangeAspect="1"/>
          </p:cNvGrpSpPr>
          <p:nvPr/>
        </p:nvGrpSpPr>
        <p:grpSpPr bwMode="auto">
          <a:xfrm rot="0" flipH="0" flipV="0">
            <a:off x="1908454" y="6854715"/>
            <a:ext cx="1209112" cy="1209107"/>
            <a:chOff x="0" y="0"/>
            <a:chExt cx="1209112" cy="1209107"/>
          </a:xfrm>
        </p:grpSpPr>
        <p:sp>
          <p:nvSpPr>
            <p:cNvPr id="14" name="Freeform 14"/>
            <p:cNvSpPr/>
            <p:nvPr/>
          </p:nvSpPr>
          <p:spPr bwMode="auto">
            <a:xfrm rot="0" flipH="0" flipV="0">
              <a:off x="0" y="0"/>
              <a:ext cx="1209112" cy="1209107"/>
            </a:xfrm>
            <a:custGeom>
              <a:avLst/>
              <a:gdLst/>
              <a:ahLst/>
              <a:cxnLst/>
              <a:rect l="l" t="t" r="r" b="b"/>
              <a:pathLst>
                <a:path w="6350000" h="6349974" fill="norm" stroke="1"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rcRect l="31836" t="49507" r="11081" b="12462"/>
              <a:stretch/>
            </a:blipFill>
          </p:spPr>
        </p:sp>
      </p:grpSp>
      <p:grpSp>
        <p:nvGrpSpPr>
          <p:cNvPr id="15" name="Group 15"/>
          <p:cNvGrpSpPr>
            <a:grpSpLocks noChangeAspect="1"/>
          </p:cNvGrpSpPr>
          <p:nvPr/>
        </p:nvGrpSpPr>
        <p:grpSpPr bwMode="auto">
          <a:xfrm rot="0" flipH="0" flipV="0">
            <a:off x="10258629" y="7144161"/>
            <a:ext cx="1042193" cy="1042189"/>
            <a:chOff x="0" y="0"/>
            <a:chExt cx="1042193" cy="1042189"/>
          </a:xfrm>
        </p:grpSpPr>
        <p:sp>
          <p:nvSpPr>
            <p:cNvPr id="16" name="Freeform 16"/>
            <p:cNvSpPr/>
            <p:nvPr/>
          </p:nvSpPr>
          <p:spPr bwMode="auto">
            <a:xfrm rot="0" flipH="0" flipV="0">
              <a:off x="0" y="0"/>
              <a:ext cx="1042193" cy="1042189"/>
            </a:xfrm>
            <a:custGeom>
              <a:avLst/>
              <a:gdLst/>
              <a:ahLst/>
              <a:cxnLst/>
              <a:rect l="l" t="t" r="r" b="b"/>
              <a:pathLst>
                <a:path w="6350000" h="6349974" fill="norm" stroke="1"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rcRect l="36564" t="45697" r="5334" b="15593"/>
              <a:stretch/>
            </a:blipFill>
          </p:spPr>
        </p:sp>
      </p:grpSp>
      <p:grpSp>
        <p:nvGrpSpPr>
          <p:cNvPr id="17" name="Group 17"/>
          <p:cNvGrpSpPr>
            <a:grpSpLocks noChangeAspect="1"/>
          </p:cNvGrpSpPr>
          <p:nvPr/>
        </p:nvGrpSpPr>
        <p:grpSpPr bwMode="auto">
          <a:xfrm rot="0" flipH="0" flipV="0">
            <a:off x="10227837" y="4942702"/>
            <a:ext cx="1071495" cy="1071491"/>
            <a:chOff x="0" y="0"/>
            <a:chExt cx="1071495" cy="1071491"/>
          </a:xfrm>
        </p:grpSpPr>
        <p:sp>
          <p:nvSpPr>
            <p:cNvPr id="18" name="Freeform 18"/>
            <p:cNvSpPr/>
            <p:nvPr/>
          </p:nvSpPr>
          <p:spPr bwMode="auto">
            <a:xfrm rot="0" flipH="0" flipV="0">
              <a:off x="0" y="0"/>
              <a:ext cx="1071495" cy="1071491"/>
            </a:xfrm>
            <a:custGeom>
              <a:avLst/>
              <a:gdLst/>
              <a:ahLst/>
              <a:cxnLst/>
              <a:rect l="l" t="t" r="r" b="b"/>
              <a:pathLst>
                <a:path w="6350000" h="6349974" fill="norm" stroke="1"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rcRect l="6963" t="7833" r="39913" b="56772"/>
              <a:stretch/>
            </a:blipFill>
          </p:spPr>
        </p:sp>
      </p:grpSp>
      <p:sp>
        <p:nvSpPr>
          <p:cNvPr id="19" name="TextBox 19"/>
          <p:cNvSpPr txBox="1"/>
          <p:nvPr/>
        </p:nvSpPr>
        <p:spPr bwMode="auto">
          <a:xfrm rot="0">
            <a:off x="3244767" y="4533148"/>
            <a:ext cx="5604062" cy="566398"/>
          </a:xfrm>
          <a:prstGeom prst="rect">
            <a:avLst/>
          </a:prstGeom>
        </p:spPr>
        <p:txBody>
          <a:bodyPr lIns="0" tIns="0" rIns="0" bIns="0" rtlCol="0" anchor="t">
            <a:spAutoFit/>
          </a:bodyPr>
          <a:lstStyle/>
          <a:p>
            <a:pPr marL="687432" lvl="1" indent="-343716" algn="l">
              <a:lnSpc>
                <a:spcPts val="4457"/>
              </a:lnSpc>
              <a:buFont typeface="Arial"/>
              <a:buChar char="•"/>
              <a:defRPr/>
            </a:pPr>
            <a:r>
              <a:rPr sz="2800" b="1" i="0" u="none">
                <a:solidFill>
                  <a:srgbClr val="000000"/>
                </a:solidFill>
                <a:latin typeface="Times New Roman"/>
                <a:ea typeface="Times New Roman"/>
                <a:cs typeface="Times New Roman"/>
              </a:rPr>
              <a:t>Random Collision Test</a:t>
            </a:r>
            <a:endParaRPr sz="2800" b="1"/>
          </a:p>
        </p:txBody>
      </p:sp>
      <p:sp>
        <p:nvSpPr>
          <p:cNvPr id="20" name="TextBox 20"/>
          <p:cNvSpPr txBox="1"/>
          <p:nvPr/>
        </p:nvSpPr>
        <p:spPr bwMode="auto">
          <a:xfrm rot="0">
            <a:off x="3244767" y="6695226"/>
            <a:ext cx="5601542" cy="566398"/>
          </a:xfrm>
          <a:prstGeom prst="rect">
            <a:avLst/>
          </a:prstGeom>
        </p:spPr>
        <p:txBody>
          <a:bodyPr lIns="0" tIns="0" rIns="0" bIns="0" rtlCol="0" anchor="t">
            <a:spAutoFit/>
          </a:bodyPr>
          <a:lstStyle/>
          <a:p>
            <a:pPr marL="687432" lvl="1" indent="-343716" algn="l">
              <a:lnSpc>
                <a:spcPts val="4457"/>
              </a:lnSpc>
              <a:buFont typeface="Arial"/>
              <a:buChar char="•"/>
              <a:defRPr/>
            </a:pPr>
            <a:r>
              <a:rPr sz="2800" b="1" i="0" u="none">
                <a:solidFill>
                  <a:srgbClr val="000000"/>
                </a:solidFill>
                <a:latin typeface="Times New Roman"/>
                <a:ea typeface="Times New Roman"/>
                <a:cs typeface="Times New Roman"/>
              </a:rPr>
              <a:t>Permutation Randomness Test</a:t>
            </a:r>
            <a:endParaRPr sz="2800" b="1"/>
          </a:p>
        </p:txBody>
      </p:sp>
      <p:sp>
        <p:nvSpPr>
          <p:cNvPr id="21" name="TextBox 21"/>
          <p:cNvSpPr txBox="1"/>
          <p:nvPr/>
        </p:nvSpPr>
        <p:spPr bwMode="auto">
          <a:xfrm rot="0">
            <a:off x="11556385" y="4806803"/>
            <a:ext cx="5223290" cy="427079"/>
          </a:xfrm>
          <a:prstGeom prst="rect">
            <a:avLst/>
          </a:prstGeom>
        </p:spPr>
        <p:txBody>
          <a:bodyPr lIns="0" tIns="0" rIns="0" bIns="0" rtlCol="0" anchor="t">
            <a:spAutoFit/>
          </a:bodyPr>
          <a:lstStyle/>
          <a:p>
            <a:pPr marL="394023" indent="-394023">
              <a:buFont typeface="Arial"/>
              <a:buChar char="•"/>
              <a:defRPr/>
            </a:pPr>
            <a:r>
              <a:rPr sz="2800" b="1" i="0" u="none">
                <a:solidFill>
                  <a:srgbClr val="000000"/>
                </a:solidFill>
                <a:latin typeface="Times New Roman"/>
                <a:ea typeface="Times New Roman"/>
                <a:cs typeface="Times New Roman"/>
              </a:rPr>
              <a:t>Bitstream Entropy Test</a:t>
            </a:r>
            <a:endParaRPr sz="2800" b="1"/>
          </a:p>
        </p:txBody>
      </p:sp>
      <p:sp>
        <p:nvSpPr>
          <p:cNvPr id="22" name="TextBox 22"/>
          <p:cNvSpPr txBox="1"/>
          <p:nvPr/>
        </p:nvSpPr>
        <p:spPr bwMode="auto">
          <a:xfrm rot="0">
            <a:off x="11453412" y="6695226"/>
            <a:ext cx="5223290" cy="427079"/>
          </a:xfrm>
          <a:prstGeom prst="rect">
            <a:avLst/>
          </a:prstGeom>
        </p:spPr>
        <p:txBody>
          <a:bodyPr lIns="0" tIns="0" rIns="0" bIns="0" rtlCol="0" anchor="t">
            <a:spAutoFit/>
          </a:bodyPr>
          <a:lstStyle/>
          <a:p>
            <a:pPr marL="394023" indent="-394023">
              <a:buFont typeface="Arial"/>
              <a:buChar char="•"/>
              <a:defRPr/>
            </a:pPr>
            <a:r>
              <a:rPr sz="2800" b="1" i="0" u="none">
                <a:solidFill>
                  <a:srgbClr val="000000"/>
                </a:solidFill>
                <a:latin typeface="Times New Roman"/>
                <a:ea typeface="Times New Roman"/>
                <a:cs typeface="Times New Roman"/>
              </a:rPr>
              <a:t>Consecutive Value Pattern Test</a:t>
            </a:r>
            <a:endParaRPr sz="2800" b="1"/>
          </a:p>
        </p:txBody>
      </p:sp>
      <p:sp>
        <p:nvSpPr>
          <p:cNvPr id="23" name="TextBox 23"/>
          <p:cNvSpPr txBox="1"/>
          <p:nvPr/>
        </p:nvSpPr>
        <p:spPr bwMode="auto">
          <a:xfrm rot="0">
            <a:off x="3868383" y="7335196"/>
            <a:ext cx="4142889" cy="167675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Assesses randomness in permutations of 5 integers, ensuring small data blocks remain unpredictable to defend against pattern-based attacks.</a:t>
            </a:r>
            <a:endParaRPr sz="2200"/>
          </a:p>
        </p:txBody>
      </p:sp>
      <p:sp>
        <p:nvSpPr>
          <p:cNvPr id="24" name="TextBox 24"/>
          <p:cNvSpPr txBox="1"/>
          <p:nvPr/>
        </p:nvSpPr>
        <p:spPr bwMode="auto">
          <a:xfrm rot="0">
            <a:off x="11993253" y="5200134"/>
            <a:ext cx="4142889" cy="134147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Examines randomness at the bit level in binary data, ensuring robustness and resistance to biases critical for secure hashing.</a:t>
            </a:r>
            <a:endParaRPr sz="2200"/>
          </a:p>
        </p:txBody>
      </p:sp>
      <p:sp>
        <p:nvSpPr>
          <p:cNvPr id="25" name="TextBox 25"/>
          <p:cNvSpPr txBox="1"/>
          <p:nvPr/>
        </p:nvSpPr>
        <p:spPr bwMode="auto">
          <a:xfrm rot="0">
            <a:off x="11880297" y="7298436"/>
            <a:ext cx="4142889" cy="167675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Analyzes the randomness of consecutive similar values, identifying opportunities to minimize subtle patterns for stronger cryptographic security.</a:t>
            </a:r>
            <a:endParaRPr sz="2200"/>
          </a:p>
        </p:txBody>
      </p:sp>
      <p:sp>
        <p:nvSpPr>
          <p:cNvPr id="1883788974" name=""/>
          <p:cNvSpPr txBox="1"/>
          <p:nvPr/>
        </p:nvSpPr>
        <p:spPr bwMode="auto">
          <a:xfrm flipH="0" flipV="0">
            <a:off x="3169053" y="3459931"/>
            <a:ext cx="13014377" cy="8233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400" b="0" i="0" u="none" strike="noStrike" cap="none" spc="0">
                <a:solidFill>
                  <a:schemeClr val="tx1"/>
                </a:solidFill>
                <a:latin typeface="Calibri"/>
                <a:ea typeface="Calibri"/>
                <a:cs typeface="Calibri"/>
              </a:rPr>
              <a:t>The Statistical Test tests are essential  </a:t>
            </a:r>
            <a:r>
              <a:rPr lang="en-US" sz="2400" b="0" i="0" u="none" strike="noStrike" cap="none" spc="0">
                <a:solidFill>
                  <a:schemeClr val="tx1"/>
                </a:solidFill>
                <a:latin typeface="Calibri"/>
                <a:ea typeface="Calibri"/>
                <a:cs typeface="Calibri"/>
              </a:rPr>
              <a:t>for evaluating the randomness properties of the gener</a:t>
            </a:r>
            <a:r>
              <a:rPr lang="en-US" sz="2400" b="0" i="0" u="none" strike="noStrike" cap="none" spc="0">
                <a:solidFill>
                  <a:schemeClr val="tx1"/>
                </a:solidFill>
                <a:latin typeface="Calibri"/>
                <a:ea typeface="Calibri"/>
                <a:cs typeface="Calibri"/>
              </a:rPr>
              <a:t>ated hash outputs, offering a comprehensive analysis of </a:t>
            </a:r>
            <a:r>
              <a:rPr lang="en-US" sz="2400" b="0" i="0" u="none" strike="noStrike" cap="none" spc="0">
                <a:solidFill>
                  <a:schemeClr val="tx1"/>
                </a:solidFill>
                <a:latin typeface="Calibri"/>
                <a:ea typeface="Calibri"/>
                <a:cs typeface="Calibri"/>
              </a:rPr>
              <a:t>various aspects of randomness.</a:t>
            </a:r>
            <a:endParaRPr sz="2400" b="0" i="0" u="none" strike="noStrike" cap="none" spc="0">
              <a:solidFill>
                <a:schemeClr val="tx1"/>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379593" y="429884"/>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flipH="0" flipV="0">
            <a:off x="1778397" y="1045349"/>
            <a:ext cx="12359437" cy="1525502"/>
          </a:xfrm>
          <a:prstGeom prst="rect">
            <a:avLst/>
          </a:prstGeom>
        </p:spPr>
        <p:txBody>
          <a:bodyPr lIns="0" tIns="0" rIns="0" bIns="0" rtlCol="0" anchor="t">
            <a:spAutoFit/>
          </a:bodyPr>
          <a:lstStyle/>
          <a:p>
            <a:pPr algn="l">
              <a:lnSpc>
                <a:spcPts val="12009"/>
              </a:lnSpc>
              <a:defRPr/>
            </a:pPr>
            <a:r>
              <a:rPr lang="en-US" sz="8600" b="1">
                <a:solidFill>
                  <a:srgbClr val="261310"/>
                </a:solidFill>
                <a:latin typeface="Grand Cru S Bold"/>
                <a:ea typeface="Grand Cru S Bold"/>
                <a:cs typeface="Grand Cru S Bold"/>
              </a:rPr>
              <a:t>Analyzing </a:t>
            </a:r>
            <a:r>
              <a:rPr lang="en-US" sz="8600" b="1">
                <a:solidFill>
                  <a:srgbClr val="261310"/>
                </a:solidFill>
                <a:latin typeface="Grand Cru S Bold"/>
                <a:ea typeface="Grand Cru S Bold"/>
                <a:cs typeface="Grand Cru S Bold"/>
              </a:rPr>
              <a:t>the results</a:t>
            </a:r>
            <a:endParaRPr sz="8600"/>
          </a:p>
        </p:txBody>
      </p:sp>
      <p:sp>
        <p:nvSpPr>
          <p:cNvPr id="10" name="TextBox 10"/>
          <p:cNvSpPr txBox="1"/>
          <p:nvPr/>
        </p:nvSpPr>
        <p:spPr bwMode="auto">
          <a:xfrm rot="0">
            <a:off x="1984343" y="5067299"/>
            <a:ext cx="7166855" cy="496548"/>
          </a:xfrm>
          <a:prstGeom prst="rect">
            <a:avLst/>
          </a:prstGeom>
        </p:spPr>
        <p:txBody>
          <a:bodyPr lIns="0" tIns="0" rIns="0" bIns="0" rtlCol="0" anchor="t">
            <a:spAutoFit/>
          </a:bodyPr>
          <a:lstStyle/>
          <a:p>
            <a:pPr algn="l">
              <a:lnSpc>
                <a:spcPts val="3907"/>
              </a:lnSpc>
              <a:defRPr/>
            </a:pPr>
            <a:endParaRPr/>
          </a:p>
        </p:txBody>
      </p:sp>
      <p:graphicFrame>
        <p:nvGraphicFramePr>
          <p:cNvPr id="595195410" name=""/>
          <p:cNvGraphicFramePr>
            <a:graphicFrameLocks xmlns:a="http://schemas.openxmlformats.org/drawingml/2006/main"/>
          </p:cNvGraphicFramePr>
          <p:nvPr/>
        </p:nvGraphicFramePr>
        <p:xfrm>
          <a:off x="9810810" y="3143495"/>
          <a:ext cx="7722972" cy="5300288"/>
        </p:xfrm>
        <a:graphic>
          <a:graphicData uri="http://schemas.openxmlformats.org/drawingml/2006/chart">
            <c:chart xmlns:c="http://schemas.openxmlformats.org/drawingml/2006/chart" xmlns:r="http://schemas.openxmlformats.org/officeDocument/2006/relationships" r:id="rId3"/>
          </a:graphicData>
        </a:graphic>
      </p:graphicFrame>
      <p:sp>
        <p:nvSpPr>
          <p:cNvPr id="1565562411" name=""/>
          <p:cNvSpPr txBox="1"/>
          <p:nvPr/>
        </p:nvSpPr>
        <p:spPr bwMode="auto">
          <a:xfrm flipH="0" flipV="0">
            <a:off x="1247190" y="4095995"/>
            <a:ext cx="8827532"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27936" indent="-327936">
              <a:buFont typeface="Arial"/>
              <a:buChar char="•"/>
              <a:defRPr/>
            </a:pPr>
            <a:r>
              <a:rPr sz="2000" b="0" i="0" u="none">
                <a:solidFill>
                  <a:schemeClr val="tx1">
                    <a:lumMod val="85000"/>
                    <a:lumOff val="15000"/>
                  </a:schemeClr>
                </a:solidFill>
                <a:latin typeface="Asana"/>
                <a:ea typeface="Asana"/>
                <a:cs typeface="Asana"/>
              </a:rPr>
              <a:t>The p-values in the chart indicate that the sequences being tested are mostly behaving randomly</a:t>
            </a:r>
            <a:r>
              <a:rPr sz="2000" b="0" i="0" u="none">
                <a:solidFill>
                  <a:schemeClr val="tx1">
                    <a:lumMod val="85000"/>
                    <a:lumOff val="15000"/>
                  </a:schemeClr>
                </a:solidFill>
                <a:latin typeface="Asana"/>
                <a:ea typeface="Asana"/>
                <a:cs typeface="Asana"/>
              </a:rPr>
              <a:t>,</a:t>
            </a:r>
            <a:r>
              <a:rPr sz="2000" b="0" i="0" u="none">
                <a:solidFill>
                  <a:schemeClr val="tx1">
                    <a:lumMod val="85000"/>
                    <a:lumOff val="15000"/>
                  </a:schemeClr>
                </a:solidFill>
                <a:latin typeface="Asana"/>
                <a:ea typeface="Asana"/>
                <a:cs typeface="Asana"/>
              </a:rPr>
              <a:t> as most of the p-values are well above 0.05, suggesting no significant deviations from randomness.</a:t>
            </a:r>
            <a:endParaRPr sz="2000">
              <a:solidFill>
                <a:schemeClr val="tx1">
                  <a:lumMod val="85000"/>
                  <a:lumOff val="15000"/>
                </a:schemeClr>
              </a:solidFill>
              <a:latin typeface="Asana"/>
              <a:cs typeface="Asana"/>
            </a:endParaRPr>
          </a:p>
        </p:txBody>
      </p:sp>
      <p:sp>
        <p:nvSpPr>
          <p:cNvPr id="366959319" name=""/>
          <p:cNvSpPr txBox="1"/>
          <p:nvPr/>
        </p:nvSpPr>
        <p:spPr bwMode="auto">
          <a:xfrm flipH="0" flipV="0">
            <a:off x="1907114" y="5446357"/>
            <a:ext cx="6257208" cy="31397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27936" indent="-327936">
              <a:buAutoNum type="arabicPeriod"/>
              <a:defRPr/>
            </a:pPr>
            <a:r>
              <a:rPr sz="2000" b="0" i="0" u="none">
                <a:solidFill>
                  <a:schemeClr val="tx1">
                    <a:lumMod val="85000"/>
                    <a:lumOff val="15000"/>
                  </a:schemeClr>
                </a:solidFill>
                <a:latin typeface="Asana"/>
                <a:ea typeface="Asana"/>
                <a:cs typeface="Asana"/>
              </a:rPr>
              <a:t>The p-value of 0.94255763 indicates the sequence behaves as expected for randomness, passing the test.</a:t>
            </a:r>
            <a:endParaRPr sz="2000">
              <a:solidFill>
                <a:schemeClr val="tx1">
                  <a:lumMod val="85000"/>
                  <a:lumOff val="15000"/>
                </a:schemeClr>
              </a:solidFill>
              <a:latin typeface="Asana"/>
              <a:cs typeface="Asana"/>
            </a:endParaRPr>
          </a:p>
          <a:p>
            <a:pPr marL="327936" indent="-327936">
              <a:buAutoNum type="arabicPeriod"/>
              <a:defRPr/>
            </a:pPr>
            <a:r>
              <a:rPr sz="2000" b="0" i="0" u="none">
                <a:solidFill>
                  <a:schemeClr val="tx1">
                    <a:lumMod val="85000"/>
                    <a:lumOff val="15000"/>
                  </a:schemeClr>
                </a:solidFill>
                <a:latin typeface="Asana"/>
                <a:ea typeface="Asana"/>
                <a:cs typeface="Asana"/>
              </a:rPr>
              <a:t>A p-value of 0.89901513 shows the data is consistent with randomness, leading to a pass.</a:t>
            </a:r>
            <a:endParaRPr sz="2000">
              <a:solidFill>
                <a:schemeClr val="tx1">
                  <a:lumMod val="85000"/>
                  <a:lumOff val="15000"/>
                </a:schemeClr>
              </a:solidFill>
              <a:latin typeface="Asana"/>
              <a:cs typeface="Asana"/>
            </a:endParaRPr>
          </a:p>
          <a:p>
            <a:pPr marL="327936" indent="-327936">
              <a:buAutoNum type="arabicPeriod"/>
              <a:defRPr/>
            </a:pPr>
            <a:r>
              <a:rPr sz="2000" b="0" i="0" u="none">
                <a:solidFill>
                  <a:schemeClr val="tx1">
                    <a:lumMod val="85000"/>
                    <a:lumOff val="15000"/>
                  </a:schemeClr>
                </a:solidFill>
                <a:latin typeface="Asana"/>
                <a:ea typeface="Asana"/>
                <a:cs typeface="Asana"/>
              </a:rPr>
              <a:t>The p-value of 0.03296137 confirms that the sequence meets the expected entropy, passing the test.</a:t>
            </a:r>
            <a:endParaRPr sz="2000">
              <a:solidFill>
                <a:schemeClr val="tx1">
                  <a:lumMod val="85000"/>
                  <a:lumOff val="15000"/>
                </a:schemeClr>
              </a:solidFill>
              <a:latin typeface="Asana"/>
              <a:cs typeface="Asana"/>
            </a:endParaRPr>
          </a:p>
          <a:p>
            <a:pPr marL="327936" indent="-327936">
              <a:buAutoNum type="arabicPeriod"/>
              <a:defRPr/>
            </a:pPr>
            <a:r>
              <a:rPr sz="2000" b="0" i="0" u="none">
                <a:solidFill>
                  <a:schemeClr val="tx1">
                    <a:lumMod val="85000"/>
                    <a:lumOff val="15000"/>
                  </a:schemeClr>
                </a:solidFill>
                <a:latin typeface="Asana"/>
                <a:ea typeface="Asana"/>
                <a:cs typeface="Asana"/>
              </a:rPr>
              <a:t>A p-value of 0.01021506 suggests the data follows the expected pattern, resulting in a pass.</a:t>
            </a:r>
            <a:endParaRPr sz="2000">
              <a:solidFill>
                <a:schemeClr val="tx1">
                  <a:lumMod val="85000"/>
                  <a:lumOff val="15000"/>
                </a:schemeClr>
              </a:solidFill>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25176" y="294710"/>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flipH="0" flipV="0">
            <a:off x="1394519" y="1725507"/>
            <a:ext cx="8880388" cy="1462637"/>
          </a:xfrm>
          <a:prstGeom prst="rect">
            <a:avLst/>
          </a:prstGeom>
        </p:spPr>
        <p:txBody>
          <a:bodyPr lIns="0" tIns="0" rIns="0" bIns="0" rtlCol="0" anchor="t">
            <a:spAutoFit/>
          </a:bodyPr>
          <a:lstStyle/>
          <a:p>
            <a:pPr algn="ctr">
              <a:lnSpc>
                <a:spcPts val="11514"/>
              </a:lnSpc>
              <a:defRPr/>
            </a:pPr>
            <a:r>
              <a:rPr lang="en-US" sz="9350" b="1">
                <a:solidFill>
                  <a:srgbClr val="261310"/>
                </a:solidFill>
                <a:latin typeface="Grand Cru S Bold"/>
                <a:ea typeface="Grand Cru S Bold"/>
                <a:cs typeface="Grand Cru S Bold"/>
              </a:rPr>
              <a:t>Future Work</a:t>
            </a:r>
            <a:endParaRPr/>
          </a:p>
        </p:txBody>
      </p:sp>
      <p:sp>
        <p:nvSpPr>
          <p:cNvPr id="12" name="TextBox 12"/>
          <p:cNvSpPr txBox="1"/>
          <p:nvPr/>
        </p:nvSpPr>
        <p:spPr bwMode="auto">
          <a:xfrm rot="0">
            <a:off x="8823242" y="3655256"/>
            <a:ext cx="3666708" cy="349609"/>
          </a:xfrm>
          <a:prstGeom prst="rect">
            <a:avLst/>
          </a:prstGeom>
        </p:spPr>
        <p:txBody>
          <a:bodyPr lIns="0" tIns="0" rIns="0" bIns="0" rtlCol="0" anchor="t">
            <a:spAutoFit/>
          </a:bodyPr>
          <a:lstStyle/>
          <a:p>
            <a:pPr algn="ctr">
              <a:lnSpc>
                <a:spcPts val="2750"/>
              </a:lnSpc>
              <a:defRPr/>
            </a:pPr>
            <a:endParaRPr/>
          </a:p>
        </p:txBody>
      </p:sp>
      <p:sp>
        <p:nvSpPr>
          <p:cNvPr id="13" name="TextBox 13"/>
          <p:cNvSpPr txBox="1"/>
          <p:nvPr/>
        </p:nvSpPr>
        <p:spPr bwMode="auto">
          <a:xfrm rot="0">
            <a:off x="12811026" y="3655256"/>
            <a:ext cx="3666708" cy="349609"/>
          </a:xfrm>
          <a:prstGeom prst="rect">
            <a:avLst/>
          </a:prstGeom>
        </p:spPr>
        <p:txBody>
          <a:bodyPr lIns="0" tIns="0" rIns="0" bIns="0" rtlCol="0" anchor="t">
            <a:spAutoFit/>
          </a:bodyPr>
          <a:lstStyle/>
          <a:p>
            <a:pPr algn="ctr">
              <a:lnSpc>
                <a:spcPts val="2750"/>
              </a:lnSpc>
              <a:defRPr/>
            </a:pPr>
            <a:endParaRPr/>
          </a:p>
        </p:txBody>
      </p:sp>
      <p:sp>
        <p:nvSpPr>
          <p:cNvPr id="17" name="TextBox 17"/>
          <p:cNvSpPr txBox="1"/>
          <p:nvPr/>
        </p:nvSpPr>
        <p:spPr bwMode="auto">
          <a:xfrm rot="0">
            <a:off x="8823242" y="7621614"/>
            <a:ext cx="3666708" cy="349609"/>
          </a:xfrm>
          <a:prstGeom prst="rect">
            <a:avLst/>
          </a:prstGeom>
        </p:spPr>
        <p:txBody>
          <a:bodyPr lIns="0" tIns="0" rIns="0" bIns="0" rtlCol="0" anchor="t">
            <a:spAutoFit/>
          </a:bodyPr>
          <a:lstStyle/>
          <a:p>
            <a:pPr algn="ctr">
              <a:lnSpc>
                <a:spcPts val="2750"/>
              </a:lnSpc>
              <a:defRPr/>
            </a:pPr>
            <a:endParaRPr/>
          </a:p>
        </p:txBody>
      </p:sp>
      <p:sp>
        <p:nvSpPr>
          <p:cNvPr id="18" name="TextBox 18"/>
          <p:cNvSpPr txBox="1"/>
          <p:nvPr/>
        </p:nvSpPr>
        <p:spPr bwMode="auto">
          <a:xfrm rot="0">
            <a:off x="12811026" y="7621614"/>
            <a:ext cx="3666708" cy="349609"/>
          </a:xfrm>
          <a:prstGeom prst="rect">
            <a:avLst/>
          </a:prstGeom>
        </p:spPr>
        <p:txBody>
          <a:bodyPr lIns="0" tIns="0" rIns="0" bIns="0" rtlCol="0" anchor="t">
            <a:spAutoFit/>
          </a:bodyPr>
          <a:lstStyle/>
          <a:p>
            <a:pPr algn="ctr">
              <a:lnSpc>
                <a:spcPts val="2750"/>
              </a:lnSpc>
              <a:defRPr/>
            </a:pPr>
            <a:endParaRPr/>
          </a:p>
        </p:txBody>
      </p:sp>
      <p:pic>
        <p:nvPicPr>
          <p:cNvPr id="1349950714" name=""/>
          <p:cNvPicPr>
            <a:picLocks noChangeAspect="1"/>
          </p:cNvPicPr>
          <p:nvPr/>
        </p:nvPicPr>
        <p:blipFill>
          <a:blip r:embed="rId3"/>
          <a:stretch/>
        </p:blipFill>
        <p:spPr bwMode="auto">
          <a:xfrm>
            <a:off x="11879991" y="3094423"/>
            <a:ext cx="4876799" cy="4876799"/>
          </a:xfrm>
          <a:prstGeom prst="rect">
            <a:avLst/>
          </a:prstGeom>
        </p:spPr>
      </p:pic>
      <p:sp>
        <p:nvSpPr>
          <p:cNvPr id="379425824" name=""/>
          <p:cNvSpPr txBox="1"/>
          <p:nvPr/>
        </p:nvSpPr>
        <p:spPr bwMode="auto">
          <a:xfrm flipH="0" flipV="0">
            <a:off x="1804662" y="4376351"/>
            <a:ext cx="9089884" cy="24692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71994" indent="-371994">
              <a:buFont typeface="Arial"/>
              <a:buChar char="•"/>
              <a:defRPr/>
            </a:pPr>
            <a:r>
              <a:rPr sz="2600" b="0" i="0" u="none">
                <a:solidFill>
                  <a:schemeClr val="tx1">
                    <a:lumMod val="85000"/>
                    <a:lumOff val="15000"/>
                  </a:schemeClr>
                </a:solidFill>
                <a:latin typeface="Asana"/>
                <a:ea typeface="Asana"/>
                <a:cs typeface="Asana"/>
              </a:rPr>
              <a:t>Integrate the </a:t>
            </a:r>
            <a:r>
              <a:rPr sz="2600" b="1" i="0" u="none">
                <a:solidFill>
                  <a:schemeClr val="tx1">
                    <a:lumMod val="85000"/>
                    <a:lumOff val="15000"/>
                  </a:schemeClr>
                </a:solidFill>
                <a:latin typeface="Asana"/>
                <a:ea typeface="Asana"/>
                <a:cs typeface="Asana"/>
              </a:rPr>
              <a:t>lattice concept</a:t>
            </a:r>
            <a:r>
              <a:rPr sz="2600" b="0" i="0" u="none">
                <a:solidFill>
                  <a:schemeClr val="tx1">
                    <a:lumMod val="85000"/>
                    <a:lumOff val="15000"/>
                  </a:schemeClr>
                </a:solidFill>
                <a:latin typeface="Asana"/>
                <a:ea typeface="Asana"/>
                <a:cs typeface="Asana"/>
              </a:rPr>
              <a:t> into the algorithm to achieve full resistance against quantum attacks.</a:t>
            </a:r>
            <a:endParaRPr sz="2600">
              <a:solidFill>
                <a:schemeClr val="tx1">
                  <a:lumMod val="85000"/>
                  <a:lumOff val="15000"/>
                </a:schemeClr>
              </a:solidFill>
              <a:latin typeface="Asana"/>
              <a:cs typeface="Asana"/>
            </a:endParaRPr>
          </a:p>
          <a:p>
            <a:pPr marL="371994" indent="-371994">
              <a:buFont typeface="Arial"/>
              <a:buChar char="•"/>
              <a:defRPr/>
            </a:pPr>
            <a:endParaRPr sz="2600">
              <a:solidFill>
                <a:schemeClr val="tx1">
                  <a:lumMod val="85000"/>
                  <a:lumOff val="15000"/>
                </a:schemeClr>
              </a:solidFill>
              <a:latin typeface="Asana"/>
              <a:cs typeface="Asana"/>
            </a:endParaRPr>
          </a:p>
          <a:p>
            <a:pPr marL="371994" indent="-371994">
              <a:buFont typeface="Arial"/>
              <a:buChar char="•"/>
              <a:defRPr/>
            </a:pPr>
            <a:r>
              <a:rPr sz="2600" b="0" i="0" u="none">
                <a:solidFill>
                  <a:schemeClr val="tx1">
                    <a:lumMod val="85000"/>
                    <a:lumOff val="15000"/>
                  </a:schemeClr>
                </a:solidFill>
                <a:latin typeface="Asana"/>
                <a:ea typeface="Asana"/>
                <a:cs typeface="Asana"/>
              </a:rPr>
              <a:t>Enhance the </a:t>
            </a:r>
            <a:r>
              <a:rPr sz="2600" b="1" i="0" u="none">
                <a:solidFill>
                  <a:schemeClr val="tx1">
                    <a:lumMod val="85000"/>
                    <a:lumOff val="15000"/>
                  </a:schemeClr>
                </a:solidFill>
                <a:latin typeface="Asana"/>
                <a:ea typeface="Asana"/>
                <a:cs typeface="Asana"/>
              </a:rPr>
              <a:t>random oracle</a:t>
            </a:r>
            <a:r>
              <a:rPr sz="2600" b="0" i="0" u="none">
                <a:solidFill>
                  <a:schemeClr val="tx1">
                    <a:lumMod val="85000"/>
                    <a:lumOff val="15000"/>
                  </a:schemeClr>
                </a:solidFill>
                <a:latin typeface="Asana"/>
                <a:ea typeface="Asana"/>
                <a:cs typeface="Asana"/>
              </a:rPr>
              <a:t> by generating random values based on </a:t>
            </a:r>
            <a:r>
              <a:rPr sz="2600" b="1" i="0" u="none">
                <a:solidFill>
                  <a:schemeClr val="tx1">
                    <a:lumMod val="85000"/>
                    <a:lumOff val="15000"/>
                  </a:schemeClr>
                </a:solidFill>
                <a:latin typeface="Asana"/>
                <a:ea typeface="Asana"/>
                <a:cs typeface="Asana"/>
              </a:rPr>
              <a:t>quantum mechanics</a:t>
            </a:r>
            <a:r>
              <a:rPr sz="2600" b="0" i="0" u="none">
                <a:solidFill>
                  <a:schemeClr val="tx1">
                    <a:lumMod val="85000"/>
                    <a:lumOff val="15000"/>
                  </a:schemeClr>
                </a:solidFill>
                <a:latin typeface="Asana"/>
                <a:ea typeface="Asana"/>
                <a:cs typeface="Asana"/>
              </a:rPr>
              <a:t>, making it fully strong and secure.</a:t>
            </a:r>
            <a:endParaRPr sz="2600">
              <a:solidFill>
                <a:schemeClr val="tx1">
                  <a:lumMod val="85000"/>
                  <a:lumOff val="15000"/>
                </a:schemeClr>
              </a:solidFill>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86017"/>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TextBox 9"/>
          <p:cNvSpPr txBox="1"/>
          <p:nvPr/>
        </p:nvSpPr>
        <p:spPr bwMode="auto">
          <a:xfrm rot="0">
            <a:off x="1692119" y="2226822"/>
            <a:ext cx="11824408" cy="1689735"/>
          </a:xfrm>
          <a:prstGeom prst="rect">
            <a:avLst/>
          </a:prstGeom>
        </p:spPr>
        <p:txBody>
          <a:bodyPr lIns="0" tIns="0" rIns="0" bIns="0" rtlCol="0" anchor="t">
            <a:spAutoFit/>
          </a:bodyPr>
          <a:lstStyle/>
          <a:p>
            <a:pPr algn="l">
              <a:lnSpc>
                <a:spcPts val="13860"/>
              </a:lnSpc>
              <a:spcBef>
                <a:spcPts val="0"/>
              </a:spcBef>
              <a:defRPr/>
            </a:pPr>
            <a:r>
              <a:rPr lang="en-US" sz="9900" b="1">
                <a:solidFill>
                  <a:srgbClr val="261310"/>
                </a:solidFill>
                <a:latin typeface="Grand Cru S Bold"/>
                <a:ea typeface="Grand Cru S Bold"/>
                <a:cs typeface="Grand Cru S Bold"/>
              </a:rPr>
              <a:t>Conclusions</a:t>
            </a:r>
            <a:endParaRPr/>
          </a:p>
        </p:txBody>
      </p:sp>
      <p:grpSp>
        <p:nvGrpSpPr>
          <p:cNvPr id="10" name="Group 10"/>
          <p:cNvGrpSpPr/>
          <p:nvPr/>
        </p:nvGrpSpPr>
        <p:grpSpPr bwMode="auto">
          <a:xfrm rot="0">
            <a:off x="1827224" y="4827055"/>
            <a:ext cx="1028340" cy="1028340"/>
            <a:chOff x="0" y="0"/>
            <a:chExt cx="1371120" cy="1371120"/>
          </a:xfrm>
        </p:grpSpPr>
        <p:grpSp>
          <p:nvGrpSpPr>
            <p:cNvPr id="11" name="Group 11"/>
            <p:cNvGrpSpPr/>
            <p:nvPr/>
          </p:nvGrpSpPr>
          <p:grpSpPr bwMode="auto">
            <a:xfrm rot="0">
              <a:off x="0" y="0"/>
              <a:ext cx="1371120" cy="1371120"/>
              <a:chOff x="0" y="0"/>
              <a:chExt cx="812800" cy="812800"/>
            </a:xfrm>
          </p:grpSpPr>
          <p:sp>
            <p:nvSpPr>
              <p:cNvPr id="12" name="Freeform 12"/>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13" name="TextBox 13"/>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14" name="TextBox 14"/>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01</a:t>
              </a:r>
              <a:endParaRPr/>
            </a:p>
          </p:txBody>
        </p:sp>
      </p:grpSp>
      <p:grpSp>
        <p:nvGrpSpPr>
          <p:cNvPr id="15" name="Group 15"/>
          <p:cNvGrpSpPr/>
          <p:nvPr/>
        </p:nvGrpSpPr>
        <p:grpSpPr bwMode="auto">
          <a:xfrm rot="0">
            <a:off x="6869524" y="4827055"/>
            <a:ext cx="1028340" cy="1028340"/>
            <a:chOff x="0" y="0"/>
            <a:chExt cx="1371120" cy="1371120"/>
          </a:xfrm>
        </p:grpSpPr>
        <p:grpSp>
          <p:nvGrpSpPr>
            <p:cNvPr id="16" name="Group 16"/>
            <p:cNvGrpSpPr/>
            <p:nvPr/>
          </p:nvGrpSpPr>
          <p:grpSpPr bwMode="auto">
            <a:xfrm rot="0">
              <a:off x="0" y="0"/>
              <a:ext cx="1371120" cy="1371120"/>
              <a:chOff x="0" y="0"/>
              <a:chExt cx="812800" cy="812800"/>
            </a:xfrm>
          </p:grpSpPr>
          <p:sp>
            <p:nvSpPr>
              <p:cNvPr id="17" name="Freeform 17"/>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18" name="TextBox 18"/>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19" name="TextBox 19"/>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02</a:t>
              </a:r>
              <a:endParaRPr/>
            </a:p>
          </p:txBody>
        </p:sp>
      </p:grpSp>
      <p:sp>
        <p:nvSpPr>
          <p:cNvPr id="20" name="TextBox 20"/>
          <p:cNvSpPr txBox="1"/>
          <p:nvPr/>
        </p:nvSpPr>
        <p:spPr bwMode="auto">
          <a:xfrm rot="0">
            <a:off x="1827223" y="6128768"/>
            <a:ext cx="4406031" cy="167675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The proposed quantum-safe hashing algorithm integrates Boltzmann entropy and random oracles, achieving a high level of security against quantum-based attacks.</a:t>
            </a:r>
            <a:endParaRPr sz="2200"/>
          </a:p>
        </p:txBody>
      </p:sp>
      <p:sp>
        <p:nvSpPr>
          <p:cNvPr id="21" name="TextBox 21"/>
          <p:cNvSpPr txBox="1"/>
          <p:nvPr/>
        </p:nvSpPr>
        <p:spPr bwMode="auto">
          <a:xfrm rot="0">
            <a:off x="6946551" y="6128768"/>
            <a:ext cx="4439104" cy="167675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By using random oracles and dynamic microstates, the algorithm introduces unpredictability, enhancing resistance to both classical and quantum adversaries.</a:t>
            </a:r>
            <a:endParaRPr sz="2200"/>
          </a:p>
        </p:txBody>
      </p:sp>
      <p:grpSp>
        <p:nvGrpSpPr>
          <p:cNvPr id="22" name="Group 22"/>
          <p:cNvGrpSpPr/>
          <p:nvPr/>
        </p:nvGrpSpPr>
        <p:grpSpPr bwMode="auto">
          <a:xfrm rot="0">
            <a:off x="11967288" y="4827055"/>
            <a:ext cx="1028340" cy="1028340"/>
            <a:chOff x="0" y="0"/>
            <a:chExt cx="1371120" cy="1371120"/>
          </a:xfrm>
        </p:grpSpPr>
        <p:grpSp>
          <p:nvGrpSpPr>
            <p:cNvPr id="23" name="Group 23"/>
            <p:cNvGrpSpPr/>
            <p:nvPr/>
          </p:nvGrpSpPr>
          <p:grpSpPr bwMode="auto">
            <a:xfrm rot="0">
              <a:off x="0" y="0"/>
              <a:ext cx="1371120" cy="1371120"/>
              <a:chOff x="0" y="0"/>
              <a:chExt cx="812800" cy="812800"/>
            </a:xfrm>
          </p:grpSpPr>
          <p:sp>
            <p:nvSpPr>
              <p:cNvPr id="24" name="Freeform 24"/>
              <p:cNvSpPr/>
              <p:nvPr/>
            </p:nvSpPr>
            <p:spPr bwMode="auto">
              <a:xfrm rot="0" flipH="0" flipV="0">
                <a:off x="0" y="0"/>
                <a:ext cx="812800" cy="812800"/>
              </a:xfrm>
              <a:custGeom>
                <a:avLst/>
                <a:gdLst/>
                <a:ahLst/>
                <a:cxnLst/>
                <a:rect l="l" t="t" r="r" b="b"/>
                <a:pathLst>
                  <a:path w="812800" h="812800" fill="norm" stroke="1" extrusionOk="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76AB9D"/>
              </a:solidFill>
            </p:spPr>
          </p:sp>
          <p:sp>
            <p:nvSpPr>
              <p:cNvPr id="25" name="TextBox 25"/>
              <p:cNvSpPr txBox="1"/>
              <p:nvPr/>
            </p:nvSpPr>
            <p:spPr bwMode="auto">
              <a:xfrm>
                <a:off x="38100" y="-9525"/>
                <a:ext cx="736600" cy="784225"/>
              </a:xfrm>
              <a:prstGeom prst="rect">
                <a:avLst/>
              </a:prstGeom>
              <a:grpFill/>
            </p:spPr>
            <p:txBody>
              <a:bodyPr lIns="50800" tIns="50800" rIns="50800" bIns="50800" rtlCol="0" anchor="ctr"/>
              <a:lstStyle/>
              <a:p>
                <a:pPr algn="ctr">
                  <a:lnSpc>
                    <a:spcPts val="2659"/>
                  </a:lnSpc>
                  <a:defRPr/>
                </a:pPr>
                <a:endParaRPr/>
              </a:p>
            </p:txBody>
          </p:sp>
        </p:grpSp>
        <p:sp>
          <p:nvSpPr>
            <p:cNvPr id="26" name="TextBox 26"/>
            <p:cNvSpPr txBox="1"/>
            <p:nvPr/>
          </p:nvSpPr>
          <p:spPr bwMode="auto">
            <a:xfrm rot="0">
              <a:off x="70201" y="102418"/>
              <a:ext cx="1230718" cy="1213908"/>
            </a:xfrm>
            <a:prstGeom prst="rect">
              <a:avLst/>
            </a:prstGeom>
            <a:grpFill/>
          </p:spPr>
          <p:txBody>
            <a:bodyPr lIns="0" tIns="0" rIns="0" bIns="0" rtlCol="0" anchor="t">
              <a:spAutoFit/>
            </a:bodyPr>
            <a:lstStyle/>
            <a:p>
              <a:pPr algn="ctr">
                <a:lnSpc>
                  <a:spcPts val="7699"/>
                </a:lnSpc>
                <a:spcBef>
                  <a:spcPts val="0"/>
                </a:spcBef>
                <a:defRPr/>
              </a:pPr>
              <a:r>
                <a:rPr lang="en-US" sz="5500" b="1">
                  <a:solidFill>
                    <a:srgbClr val="261310"/>
                  </a:solidFill>
                  <a:latin typeface="29LT Adir Semi-Bold"/>
                  <a:ea typeface="29LT Adir Semi-Bold"/>
                  <a:cs typeface="29LT Adir Semi-Bold"/>
                </a:rPr>
                <a:t>03</a:t>
              </a:r>
              <a:endParaRPr/>
            </a:p>
          </p:txBody>
        </p:sp>
      </p:grpSp>
      <p:sp>
        <p:nvSpPr>
          <p:cNvPr id="27" name="TextBox 27"/>
          <p:cNvSpPr txBox="1"/>
          <p:nvPr/>
        </p:nvSpPr>
        <p:spPr bwMode="auto">
          <a:xfrm rot="0">
            <a:off x="12022750" y="6128768"/>
            <a:ext cx="4439104" cy="1676759"/>
          </a:xfrm>
          <a:prstGeom prst="rect">
            <a:avLst/>
          </a:prstGeom>
        </p:spPr>
        <p:txBody>
          <a:bodyPr lIns="0" tIns="0" rIns="0" bIns="0" rtlCol="0" anchor="t">
            <a:spAutoFit/>
          </a:bodyPr>
          <a:lstStyle/>
          <a:p>
            <a:pPr>
              <a:defRPr/>
            </a:pPr>
            <a:r>
              <a:rPr sz="2200" b="0" i="0" u="none">
                <a:solidFill>
                  <a:srgbClr val="000000"/>
                </a:solidFill>
                <a:latin typeface="Times New Roman"/>
                <a:ea typeface="Times New Roman"/>
                <a:cs typeface="Times New Roman"/>
              </a:rPr>
              <a:t>Through rigorous analysis and mathematical proofs, the algorithm demonstrates robust resistance to quantum attacks, ensuring integrity in post-quantum cryptography.</a:t>
            </a:r>
            <a:endParaRPr sz="2200"/>
          </a:p>
        </p:txBody>
      </p:sp>
      <p:sp>
        <p:nvSpPr>
          <p:cNvPr id="28" name="Freeform 28"/>
          <p:cNvSpPr/>
          <p:nvPr/>
        </p:nvSpPr>
        <p:spPr bwMode="auto">
          <a:xfrm rot="-8378249" flipH="0" flipV="0">
            <a:off x="11360085" y="2122780"/>
            <a:ext cx="5389795" cy="2652629"/>
          </a:xfrm>
          <a:custGeom>
            <a:avLst/>
            <a:gdLst/>
            <a:ahLst/>
            <a:cxnLst/>
            <a:rect l="l" t="t" r="r" b="b"/>
            <a:pathLst>
              <a:path w="5389795" h="2652629" fill="norm" stroke="1" extrusionOk="0">
                <a:moveTo>
                  <a:pt x="0" y="0"/>
                </a:moveTo>
                <a:lnTo>
                  <a:pt x="5389795" y="0"/>
                </a:lnTo>
                <a:lnTo>
                  <a:pt x="5389795" y="2652629"/>
                </a:lnTo>
                <a:lnTo>
                  <a:pt x="0" y="2652629"/>
                </a:lnTo>
                <a:lnTo>
                  <a:pt x="0" y="0"/>
                </a:lnTo>
                <a:close/>
              </a:path>
            </a:pathLst>
          </a:custGeom>
          <a:blipFill>
            <a:blip r:embed="rId3"/>
            <a:src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BCDBD3"/>
        </a:solidFill>
      </p:bgPr>
    </p:bg>
    <p:spTree>
      <p:nvGrpSpPr>
        <p:cNvPr id="1" name=""/>
        <p:cNvGrpSpPr/>
        <p:nvPr/>
      </p:nvGrpSpPr>
      <p:grpSpPr bwMode="auto">
        <a:xfrm>
          <a:off x="0" y="0"/>
          <a:ext cx="0" cy="0"/>
          <a:chOff x="0" y="0"/>
          <a:chExt cx="0" cy="0"/>
        </a:xfrm>
      </p:grpSpPr>
      <p:grpSp>
        <p:nvGrpSpPr>
          <p:cNvPr id="2" name="Group 2"/>
          <p:cNvGrpSpPr/>
          <p:nvPr/>
        </p:nvGrpSpPr>
        <p:grpSpPr bwMode="auto">
          <a:xfrm rot="0">
            <a:off x="441723" y="379852"/>
            <a:ext cx="17404553" cy="9527296"/>
            <a:chOff x="0" y="0"/>
            <a:chExt cx="23206071" cy="12703061"/>
          </a:xfrm>
        </p:grpSpPr>
        <p:grpSp>
          <p:nvGrpSpPr>
            <p:cNvPr id="3" name="Group 3"/>
            <p:cNvGrpSpPr/>
            <p:nvPr/>
          </p:nvGrpSpPr>
          <p:grpSpPr bwMode="auto">
            <a:xfrm rot="0">
              <a:off x="0" y="0"/>
              <a:ext cx="23206071" cy="12703061"/>
              <a:chOff x="0" y="0"/>
              <a:chExt cx="4596479" cy="2516124"/>
            </a:xfrm>
          </p:grpSpPr>
          <p:sp>
            <p:nvSpPr>
              <p:cNvPr id="4" name="Freeform 4"/>
              <p:cNvSpPr/>
              <p:nvPr/>
            </p:nvSpPr>
            <p:spPr bwMode="auto">
              <a:xfrm rot="0" flipH="0" flipV="0">
                <a:off x="0" y="0"/>
                <a:ext cx="4596479" cy="2516124"/>
              </a:xfrm>
              <a:custGeom>
                <a:avLst/>
                <a:gdLst/>
                <a:ahLst/>
                <a:cxnLst/>
                <a:rect l="l" t="t" r="r" b="b"/>
                <a:pathLst>
                  <a:path w="4596479" h="2516124" fill="norm" stroke="1" extrusionOk="0">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solidFill>
                <a:srgbClr val="000000">
                  <a:alpha val="0"/>
                </a:srgbClr>
              </a:solidFill>
              <a:ln w="19050" cap="sq">
                <a:solidFill>
                  <a:srgbClr val="261310"/>
                </a:solidFill>
                <a:prstDash val="solid"/>
                <a:miter/>
              </a:ln>
            </p:spPr>
          </p:sp>
          <p:sp>
            <p:nvSpPr>
              <p:cNvPr id="5" name="TextBox 5"/>
              <p:cNvSpPr txBox="1"/>
              <p:nvPr/>
            </p:nvSpPr>
            <p:spPr bwMode="auto">
              <a:xfrm>
                <a:off x="38100" y="-9525"/>
                <a:ext cx="4520279" cy="2487549"/>
              </a:xfrm>
              <a:prstGeom prst="rect">
                <a:avLst/>
              </a:prstGeom>
              <a:grpFill/>
            </p:spPr>
            <p:txBody>
              <a:bodyPr lIns="50800" tIns="50800" rIns="50800" bIns="50800" rtlCol="0" anchor="ctr"/>
              <a:lstStyle/>
              <a:p>
                <a:pPr algn="ctr">
                  <a:lnSpc>
                    <a:spcPts val="2659"/>
                  </a:lnSpc>
                  <a:defRPr/>
                </a:pPr>
                <a:endParaRPr/>
              </a:p>
            </p:txBody>
          </p:sp>
        </p:grpSp>
        <p:grpSp>
          <p:nvGrpSpPr>
            <p:cNvPr id="6" name="Group 6"/>
            <p:cNvGrpSpPr/>
            <p:nvPr/>
          </p:nvGrpSpPr>
          <p:grpSpPr bwMode="auto">
            <a:xfrm rot="0">
              <a:off x="170293" y="192716"/>
              <a:ext cx="22836362" cy="12317628"/>
              <a:chOff x="0" y="0"/>
              <a:chExt cx="4596479" cy="2479279"/>
            </a:xfrm>
          </p:grpSpPr>
          <p:sp>
            <p:nvSpPr>
              <p:cNvPr id="7" name="Freeform 7"/>
              <p:cNvSpPr/>
              <p:nvPr/>
            </p:nvSpPr>
            <p:spPr bwMode="auto">
              <a:xfrm rot="0" flipH="0" flipV="0">
                <a:off x="0" y="0"/>
                <a:ext cx="4596479" cy="2479279"/>
              </a:xfrm>
              <a:custGeom>
                <a:avLst/>
                <a:gdLst/>
                <a:ahLst/>
                <a:cxnLst/>
                <a:rect l="l" t="t" r="r" b="b"/>
                <a:pathLst>
                  <a:path w="4596479" h="2479279" fill="norm" stroke="1" extrusionOk="0">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bwMode="auto">
              <a:xfrm>
                <a:off x="38100" y="-9525"/>
                <a:ext cx="4520279" cy="2450704"/>
              </a:xfrm>
              <a:prstGeom prst="rect">
                <a:avLst/>
              </a:prstGeom>
              <a:grpFill/>
            </p:spPr>
            <p:txBody>
              <a:bodyPr lIns="50800" tIns="50800" rIns="50800" bIns="50800" rtlCol="0" anchor="ctr"/>
              <a:lstStyle/>
              <a:p>
                <a:pPr algn="ctr">
                  <a:lnSpc>
                    <a:spcPts val="2659"/>
                  </a:lnSpc>
                  <a:defRPr/>
                </a:pPr>
                <a:endParaRPr/>
              </a:p>
            </p:txBody>
          </p:sp>
        </p:grpSp>
      </p:grpSp>
      <p:sp>
        <p:nvSpPr>
          <p:cNvPr id="9" name="Freeform 9"/>
          <p:cNvSpPr/>
          <p:nvPr/>
        </p:nvSpPr>
        <p:spPr bwMode="auto">
          <a:xfrm rot="0" flipH="0" flipV="0">
            <a:off x="13471444" y="1858803"/>
            <a:ext cx="3490725" cy="4102440"/>
          </a:xfrm>
          <a:custGeom>
            <a:avLst/>
            <a:gdLst/>
            <a:ahLst/>
            <a:cxnLst/>
            <a:rect l="l" t="t" r="r" b="b"/>
            <a:pathLst>
              <a:path w="3490725" h="4102440" fill="norm" stroke="1" extrusionOk="0">
                <a:moveTo>
                  <a:pt x="0" y="0"/>
                </a:moveTo>
                <a:lnTo>
                  <a:pt x="3490725" y="0"/>
                </a:lnTo>
                <a:lnTo>
                  <a:pt x="3490725" y="4102440"/>
                </a:lnTo>
                <a:lnTo>
                  <a:pt x="0" y="4102440"/>
                </a:lnTo>
                <a:lnTo>
                  <a:pt x="0" y="0"/>
                </a:lnTo>
                <a:close/>
              </a:path>
            </a:pathLst>
          </a:custGeom>
          <a:blipFill>
            <a:blip r:embed="rId3"/>
            <a:srcRect l="10055" t="4018" r="12795" b="5316"/>
            <a:stretch/>
          </a:blipFill>
        </p:spPr>
      </p:sp>
      <p:sp>
        <p:nvSpPr>
          <p:cNvPr id="10" name="Freeform 10"/>
          <p:cNvSpPr/>
          <p:nvPr/>
        </p:nvSpPr>
        <p:spPr bwMode="auto">
          <a:xfrm rot="-3878627" flipH="0" flipV="0">
            <a:off x="4342326" y="1471233"/>
            <a:ext cx="2034540" cy="1667625"/>
          </a:xfrm>
          <a:custGeom>
            <a:avLst/>
            <a:gdLst/>
            <a:ahLst/>
            <a:cxnLst/>
            <a:rect l="l" t="t" r="r" b="b"/>
            <a:pathLst>
              <a:path w="2034541" h="1667625" fill="norm" stroke="1" extrusionOk="0">
                <a:moveTo>
                  <a:pt x="0" y="0"/>
                </a:moveTo>
                <a:lnTo>
                  <a:pt x="2034541" y="0"/>
                </a:lnTo>
                <a:lnTo>
                  <a:pt x="2034541" y="1667624"/>
                </a:lnTo>
                <a:lnTo>
                  <a:pt x="0" y="1667624"/>
                </a:lnTo>
                <a:lnTo>
                  <a:pt x="0" y="0"/>
                </a:lnTo>
                <a:close/>
              </a:path>
            </a:pathLst>
          </a:custGeom>
          <a:blipFill>
            <a:blip r:embed="rId4"/>
            <a:srcRect l="0" t="0" r="0" b="0"/>
            <a:stretch/>
          </a:blipFill>
        </p:spPr>
      </p:sp>
      <p:sp>
        <p:nvSpPr>
          <p:cNvPr id="11" name="Freeform 11"/>
          <p:cNvSpPr/>
          <p:nvPr/>
        </p:nvSpPr>
        <p:spPr bwMode="auto">
          <a:xfrm rot="0" flipH="0" flipV="0">
            <a:off x="12719178" y="6467075"/>
            <a:ext cx="4242992" cy="2681983"/>
          </a:xfrm>
          <a:custGeom>
            <a:avLst/>
            <a:gdLst/>
            <a:ahLst/>
            <a:cxnLst/>
            <a:rect l="l" t="t" r="r" b="b"/>
            <a:pathLst>
              <a:path w="4242992" h="2681983" fill="norm" stroke="1" extrusionOk="0">
                <a:moveTo>
                  <a:pt x="0" y="0"/>
                </a:moveTo>
                <a:lnTo>
                  <a:pt x="4242991" y="0"/>
                </a:lnTo>
                <a:lnTo>
                  <a:pt x="4242991" y="2681983"/>
                </a:lnTo>
                <a:lnTo>
                  <a:pt x="0" y="2681983"/>
                </a:lnTo>
                <a:lnTo>
                  <a:pt x="0" y="0"/>
                </a:lnTo>
                <a:close/>
              </a:path>
            </a:pathLst>
          </a:custGeom>
          <a:blipFill>
            <a:blip r:embed="rId5"/>
            <a:srcRect l="6225" t="14692" r="4891" b="16174"/>
            <a:stretch/>
          </a:blipFill>
        </p:spPr>
      </p:sp>
      <p:sp>
        <p:nvSpPr>
          <p:cNvPr id="12" name="TextBox 12"/>
          <p:cNvSpPr txBox="1"/>
          <p:nvPr/>
        </p:nvSpPr>
        <p:spPr bwMode="auto">
          <a:xfrm rot="0">
            <a:off x="5118086" y="3118717"/>
            <a:ext cx="8374502" cy="3656457"/>
          </a:xfrm>
          <a:prstGeom prst="rect">
            <a:avLst/>
          </a:prstGeom>
        </p:spPr>
        <p:txBody>
          <a:bodyPr lIns="0" tIns="0" rIns="0" bIns="0" rtlCol="0" anchor="t">
            <a:spAutoFit/>
          </a:bodyPr>
          <a:lstStyle/>
          <a:p>
            <a:pPr algn="ctr">
              <a:lnSpc>
                <a:spcPts val="13959"/>
              </a:lnSpc>
              <a:defRPr/>
            </a:pPr>
            <a:r>
              <a:rPr lang="en-US" sz="14100" b="1">
                <a:solidFill>
                  <a:srgbClr val="261310"/>
                </a:solidFill>
                <a:latin typeface="Grand Cru S Bold"/>
                <a:ea typeface="Grand Cru S Bold"/>
                <a:cs typeface="Grand Cru S Bold"/>
              </a:rPr>
              <a:t>Thank</a:t>
            </a:r>
            <a:endParaRPr/>
          </a:p>
          <a:p>
            <a:pPr algn="ctr">
              <a:lnSpc>
                <a:spcPts val="13959"/>
              </a:lnSpc>
              <a:defRPr/>
            </a:pPr>
            <a:r>
              <a:rPr lang="en-US" sz="14100" b="1">
                <a:solidFill>
                  <a:srgbClr val="261310"/>
                </a:solidFill>
                <a:latin typeface="Grand Cru S Bold"/>
                <a:ea typeface="Grand Cru S Bold"/>
                <a:cs typeface="Grand Cru S Bold"/>
              </a:rPr>
              <a:t>you!</a:t>
            </a:r>
            <a:endParaRPr/>
          </a:p>
        </p:txBody>
      </p:sp>
      <p:sp>
        <p:nvSpPr>
          <p:cNvPr id="13" name="Freeform 13"/>
          <p:cNvSpPr/>
          <p:nvPr/>
        </p:nvSpPr>
        <p:spPr bwMode="auto">
          <a:xfrm rot="0" flipH="0" flipV="0">
            <a:off x="1481882" y="1858803"/>
            <a:ext cx="3502854" cy="6816969"/>
          </a:xfrm>
          <a:custGeom>
            <a:avLst/>
            <a:gdLst/>
            <a:ahLst/>
            <a:cxnLst/>
            <a:rect l="l" t="t" r="r" b="b"/>
            <a:pathLst>
              <a:path w="3502854" h="6816969" fill="norm" stroke="1" extrusionOk="0">
                <a:moveTo>
                  <a:pt x="0" y="0"/>
                </a:moveTo>
                <a:lnTo>
                  <a:pt x="3502854" y="0"/>
                </a:lnTo>
                <a:lnTo>
                  <a:pt x="3502854" y="6816969"/>
                </a:lnTo>
                <a:lnTo>
                  <a:pt x="0" y="6816969"/>
                </a:lnTo>
                <a:lnTo>
                  <a:pt x="0" y="0"/>
                </a:lnTo>
                <a:close/>
              </a:path>
            </a:pathLst>
          </a:custGeom>
          <a:blipFill>
            <a:blip r:embed="rId6"/>
            <a:srcRect l="0" t="0" r="0" b="0"/>
            <a:stretch/>
          </a:blipFill>
        </p:spPr>
      </p:sp>
      <p:sp>
        <p:nvSpPr>
          <p:cNvPr id="14" name="Freeform 14"/>
          <p:cNvSpPr/>
          <p:nvPr/>
        </p:nvSpPr>
        <p:spPr bwMode="auto">
          <a:xfrm rot="-9025787" flipH="0" flipV="0">
            <a:off x="10195987" y="1460181"/>
            <a:ext cx="2972937" cy="1463154"/>
          </a:xfrm>
          <a:custGeom>
            <a:avLst/>
            <a:gdLst/>
            <a:ahLst/>
            <a:cxnLst/>
            <a:rect l="l" t="t" r="r" b="b"/>
            <a:pathLst>
              <a:path w="2972937" h="1463154" fill="norm" stroke="1" extrusionOk="0">
                <a:moveTo>
                  <a:pt x="0" y="0"/>
                </a:moveTo>
                <a:lnTo>
                  <a:pt x="2972937" y="0"/>
                </a:lnTo>
                <a:lnTo>
                  <a:pt x="2972937" y="1463153"/>
                </a:lnTo>
                <a:lnTo>
                  <a:pt x="0" y="1463153"/>
                </a:lnTo>
                <a:lnTo>
                  <a:pt x="0" y="0"/>
                </a:lnTo>
                <a:close/>
              </a:path>
            </a:pathLst>
          </a:custGeom>
          <a:blipFill>
            <a:blip r:embed="rId7"/>
            <a:srcRect l="0" t="0" r="0" b="0"/>
            <a:stretch/>
          </a:blipFill>
        </p:spPr>
      </p:sp>
      <p:sp>
        <p:nvSpPr>
          <p:cNvPr id="15" name="TextBox 15"/>
          <p:cNvSpPr txBox="1"/>
          <p:nvPr/>
        </p:nvSpPr>
        <p:spPr bwMode="auto">
          <a:xfrm rot="0">
            <a:off x="5452173" y="6929670"/>
            <a:ext cx="7706329" cy="523875"/>
          </a:xfrm>
          <a:prstGeom prst="rect">
            <a:avLst/>
          </a:prstGeom>
        </p:spPr>
        <p:txBody>
          <a:bodyPr lIns="0" tIns="0" rIns="0" bIns="0" rtlCol="0" anchor="t">
            <a:spAutoFit/>
          </a:bodyPr>
          <a:lstStyle/>
          <a:p>
            <a:pPr algn="ctr">
              <a:lnSpc>
                <a:spcPts val="4200"/>
              </a:lnSpc>
              <a:spcBef>
                <a:spcPts val="0"/>
              </a:spcBef>
              <a:defRPr/>
            </a:pPr>
            <a:r>
              <a:rPr lang="en-US" sz="3000" b="1">
                <a:solidFill>
                  <a:srgbClr val="261310"/>
                </a:solidFill>
                <a:latin typeface="Glacial Indifference Bold"/>
                <a:ea typeface="Glacial Indifference Bold"/>
                <a:cs typeface="Glacial Indifference Bold"/>
              </a:rPr>
              <a:t>Do you have any questions?</a:t>
            </a:r>
            <a:endParaRPr/>
          </a:p>
        </p:txBody>
      </p:sp>
      <p:sp>
        <p:nvSpPr>
          <p:cNvPr id="16" name="TextBox 16"/>
          <p:cNvSpPr txBox="1"/>
          <p:nvPr/>
        </p:nvSpPr>
        <p:spPr bwMode="auto">
          <a:xfrm rot="0">
            <a:off x="6548721" y="7760440"/>
            <a:ext cx="5513950" cy="437620"/>
          </a:xfrm>
          <a:prstGeom prst="rect">
            <a:avLst/>
          </a:prstGeom>
        </p:spPr>
        <p:txBody>
          <a:bodyPr lIns="0" tIns="0" rIns="0" bIns="0" rtlCol="0" anchor="t">
            <a:spAutoFit/>
          </a:bodyPr>
          <a:lstStyle/>
          <a:p>
            <a:pPr algn="ctr">
              <a:lnSpc>
                <a:spcPts val="3443"/>
              </a:lnSpc>
              <a:spcBef>
                <a:spcPts val="0"/>
              </a:spcBef>
              <a:defRPr/>
            </a:pPr>
            <a:endParaRPr>
              <a:solidFill>
                <a:schemeClr val="tx1">
                  <a:lumMod val="85000"/>
                  <a:lumOff val="15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Aspec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ONLYOFFICE/8.2.2.22</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and Green Illustrative Science Project Presentation</dc:title>
  <dc:identifier>DAGbWijAxtY</dc:identifier>
  <cp:lastModifiedBy/>
  <cp:revision>4</cp:revision>
  <dcterms:created xsi:type="dcterms:W3CDTF">2006-08-16T00:00:00Z</dcterms:created>
  <dcterms:modified xsi:type="dcterms:W3CDTF">2025-01-07T17:39:50Z</dcterms:modified>
</cp:coreProperties>
</file>